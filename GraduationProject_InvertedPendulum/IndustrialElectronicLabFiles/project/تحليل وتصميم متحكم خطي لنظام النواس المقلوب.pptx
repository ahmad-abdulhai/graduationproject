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56" r:id="rId1"/>
  </p:sldMasterIdLst>
  <p:notesMasterIdLst>
    <p:notesMasterId r:id="rId28"/>
  </p:notesMasterIdLst>
  <p:sldIdLst>
    <p:sldId id="277" r:id="rId2"/>
    <p:sldId id="258" r:id="rId3"/>
    <p:sldId id="257" r:id="rId4"/>
    <p:sldId id="261" r:id="rId5"/>
    <p:sldId id="280" r:id="rId6"/>
    <p:sldId id="281" r:id="rId7"/>
    <p:sldId id="259" r:id="rId8"/>
    <p:sldId id="260" r:id="rId9"/>
    <p:sldId id="275" r:id="rId10"/>
    <p:sldId id="262" r:id="rId11"/>
    <p:sldId id="263" r:id="rId12"/>
    <p:sldId id="264" r:id="rId13"/>
    <p:sldId id="282" r:id="rId14"/>
    <p:sldId id="283" r:id="rId15"/>
    <p:sldId id="265" r:id="rId16"/>
    <p:sldId id="266" r:id="rId17"/>
    <p:sldId id="276" r:id="rId18"/>
    <p:sldId id="279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8" r:id="rId27"/>
  </p:sldIdLst>
  <p:sldSz cx="9144000" cy="6858000" type="screen4x3"/>
  <p:notesSz cx="6858000" cy="9144000"/>
  <p:defaultTextStyle>
    <a:defPPr>
      <a:defRPr lang="ar-SY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83881" autoAdjust="0"/>
    <p:restoredTop sz="94660"/>
  </p:normalViewPr>
  <p:slideViewPr>
    <p:cSldViewPr>
      <p:cViewPr varScale="1">
        <p:scale>
          <a:sx n="74" d="100"/>
          <a:sy n="74" d="100"/>
        </p:scale>
        <p:origin x="-38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77E8E1E-5460-4A1A-B719-2B7961DBF1D7}" type="datetimeFigureOut">
              <a:rPr lang="ar-SA" smtClean="0"/>
              <a:pPr/>
              <a:t>14/05/1430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C08E74A-F006-47F4-AA78-113409147C8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ثلث متساوي الساقين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D18A7031-BB80-4C02-BEBA-1F4A94BEF032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ar-SY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59EDBEC0-EB89-4F96-8E2B-BB135C1050DE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ثلث قائم الزاوية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مثلث متساوي الساقين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F8A1C541-4031-4D43-A1C2-D82DE40006E1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  <p:cxnSp>
        <p:nvCxnSpPr>
          <p:cNvPr id="11" name="رابط مستقيم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رابط مستقيم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CC6768E-E1B0-4E60-8523-66A6409DC8C3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7418DF26-22F9-41E3-A851-DB6E9E0897CB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ar-SY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6587-E5C5-4398-AB4C-3450B5988ABD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4CE4DDC2-1F62-45EE-948E-62E4AA9AE88E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ar-SY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C5E5886C-9518-43DA-90B5-A3C47C99384C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ar-SY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8E693FAB-9440-4C5E-893B-1CD8BD1A2693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ar-SY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C2311-6DD5-4A89-B1DD-1569A6C1E63B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D8F7-0740-444F-9E8B-F777612A5E5B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مثلث قائم الزاوية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رابط مستقيم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رابط مستقيم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86AE5B99-BB2F-41B5-96A9-4B6EC6384F3B}" type="datetime8">
              <a:rPr lang="ar-SY" smtClean="0"/>
              <a:pPr/>
              <a:t>08 أيار، 09</a:t>
            </a:fld>
            <a:endParaRPr lang="ar-SY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ar-SY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CBAFA24E-D863-4F07-97A2-72DA0D0DF09F}" type="slidenum">
              <a:rPr lang="ar-SY" smtClean="0"/>
              <a:pPr/>
              <a:t>‹#›</a:t>
            </a:fld>
            <a:endParaRPr lang="ar-SY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marL="484632" algn="l" rtl="1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r" rtl="1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r" rtl="1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r" rtl="1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r" rtl="1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r" rtl="1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9.e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19.bin"/><Relationship Id="rId9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&#1575;&#1604;&#1578;&#1591;&#1576;&#1610;&#1602;%20&#1575;&#1604;&#1593;&#1605;&#1604;&#1610;.avi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71472" y="571480"/>
            <a:ext cx="8229600" cy="1399032"/>
          </a:xfrm>
        </p:spPr>
        <p:txBody>
          <a:bodyPr>
            <a:normAutofit fontScale="90000"/>
          </a:bodyPr>
          <a:lstStyle/>
          <a:p>
            <a:pPr algn="ctr"/>
            <a:r>
              <a:rPr lang="ar-SY" b="1" dirty="0" smtClean="0"/>
              <a:t>تحليل وتصميم متحكم خطي لنظام النواس المقلوب</a:t>
            </a:r>
            <a:r>
              <a:rPr lang="en-US" dirty="0" smtClean="0"/>
              <a:t/>
            </a:r>
            <a:br>
              <a:rPr lang="en-US" dirty="0" smtClean="0"/>
            </a:b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28596" y="2643182"/>
            <a:ext cx="8229600" cy="4572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إعداد الطالبتان </a:t>
            </a:r>
          </a:p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رهف شيخ دبس      الرزان رضوان </a:t>
            </a:r>
          </a:p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بإشراف </a:t>
            </a:r>
          </a:p>
          <a:p>
            <a:pPr algn="ctr">
              <a:buNone/>
            </a:pP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 الدكتور المهندس         الدكتور المهندس                              </a:t>
            </a: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     </a:t>
            </a: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أنس فتوح     </a:t>
            </a: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          </a:t>
            </a:r>
            <a:r>
              <a:rPr lang="ar-SY" sz="3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عماد الروح  </a:t>
            </a: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 descr="Grad5.jpg"/>
          <p:cNvPicPr>
            <a:picLocks noChangeAspect="1"/>
          </p:cNvPicPr>
          <p:nvPr/>
        </p:nvPicPr>
        <p:blipFill>
          <a:blip r:embed="rId2"/>
          <a:srcRect l="30039" t="47917" r="25969" b="28125"/>
          <a:stretch>
            <a:fillRect/>
          </a:stretch>
        </p:blipFill>
        <p:spPr>
          <a:xfrm>
            <a:off x="428596" y="785794"/>
            <a:ext cx="8429684" cy="528641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00034" y="1071546"/>
            <a:ext cx="8229600" cy="4572000"/>
          </a:xfrm>
        </p:spPr>
        <p:txBody>
          <a:bodyPr>
            <a:normAutofit fontScale="92500" lnSpcReduction="10000"/>
          </a:bodyPr>
          <a:lstStyle/>
          <a:p>
            <a:r>
              <a:rPr lang="ar-SY" dirty="0" smtClean="0"/>
              <a:t>يعتبر النواس المقلوب من أنظمة التحكم وحيدة الدخل متعددة المخارج، لاخطية وغير مستقرة.</a:t>
            </a:r>
          </a:p>
          <a:p>
            <a:r>
              <a:rPr lang="ar-SY" dirty="0" smtClean="0"/>
              <a:t>يتألف هذا النظام من عربة </a:t>
            </a:r>
            <a:r>
              <a:rPr lang="ar-SY" dirty="0" err="1" smtClean="0"/>
              <a:t>مقادة</a:t>
            </a:r>
            <a:r>
              <a:rPr lang="ar-SY" dirty="0" smtClean="0"/>
              <a:t> أفقياً بواسطة محرك </a:t>
            </a:r>
            <a:r>
              <a:rPr lang="en-US" dirty="0" smtClean="0"/>
              <a:t>DC</a:t>
            </a:r>
            <a:r>
              <a:rPr lang="ar-SY" dirty="0" smtClean="0"/>
              <a:t> ويتم إيجاد موضع النواس عن طريق حساس موضع.</a:t>
            </a:r>
          </a:p>
          <a:p>
            <a:r>
              <a:rPr lang="ar-SY" dirty="0" smtClean="0"/>
              <a:t>يتوضع على العربة نواس مثبت من أحد طرفيه وحر من الطرف الآخر ويتم قياس زاوية هذا النواس بواسطة حساس رقمي (</a:t>
            </a:r>
            <a:r>
              <a:rPr lang="en-US" dirty="0" smtClean="0"/>
              <a:t>.(encoder</a:t>
            </a:r>
          </a:p>
          <a:p>
            <a:r>
              <a:rPr lang="ar-SY" dirty="0" smtClean="0"/>
              <a:t>إن الهدف من التحكم في هذا النظام هو تحريك العربة إلى الموضع المرغوب وبأداء عالي بحيث يبقى النواس في الموضع الشاقولي العلوي. </a:t>
            </a:r>
          </a:p>
          <a:p>
            <a:endParaRPr lang="ar-SY" dirty="0" smtClean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3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169080"/>
          </a:xfrm>
        </p:spPr>
        <p:txBody>
          <a:bodyPr/>
          <a:lstStyle/>
          <a:p>
            <a:pPr>
              <a:buNone/>
            </a:pPr>
            <a:r>
              <a:rPr lang="ar-SY" b="1" dirty="0" smtClean="0"/>
              <a:t>مكونات التجربة 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4" name="صورة 3"/>
          <p:cNvPicPr/>
          <p:nvPr/>
        </p:nvPicPr>
        <p:blipFill>
          <a:blip r:embed="rId2"/>
          <a:srcRect l="19212" t="25773" r="11230" b="25545"/>
          <a:stretch>
            <a:fillRect/>
          </a:stretch>
        </p:blipFill>
        <p:spPr bwMode="auto">
          <a:xfrm>
            <a:off x="1785918" y="1285860"/>
            <a:ext cx="5781675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4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5984" y="642918"/>
            <a:ext cx="4668715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5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811890"/>
          </a:xfrm>
        </p:spPr>
        <p:txBody>
          <a:bodyPr>
            <a:normAutofit/>
          </a:bodyPr>
          <a:lstStyle/>
          <a:p>
            <a:r>
              <a:rPr lang="ar-SY" sz="2600" dirty="0" smtClean="0"/>
              <a:t>هذا النظام في الحلقة المفتوحة هو نظام غير مستقر,لذا سوف نعتمد في تطبيقنا على استخدام التغذية العكسية لزاوية النواس وموضع العربة (والتي هي مخارج  النظام ) بالإضافة إلى سرعة العربة والسرعة الزاوية للنواس (والتي يتم حسابها بالاشتقاق والترشيح) .</a:t>
            </a:r>
            <a:endParaRPr lang="en-US" sz="2600" dirty="0" smtClean="0"/>
          </a:p>
        </p:txBody>
      </p:sp>
      <p:pic>
        <p:nvPicPr>
          <p:cNvPr id="4" name="صورة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928934"/>
            <a:ext cx="5972175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6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95476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ar-SY" sz="35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المراحل المختلفة لإنجاز التحكم بالنواس المقلوب :</a:t>
            </a:r>
            <a:endParaRPr lang="en-US" sz="3500" b="1" dirty="0" smtClean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/>
            <a:r>
              <a:rPr lang="ar-SY" dirty="0" smtClean="0"/>
              <a:t>دراسة مكونات النظام الفيزيائية والبرمجية.</a:t>
            </a:r>
            <a:endParaRPr lang="en-US" dirty="0" smtClean="0"/>
          </a:p>
          <a:p>
            <a:pPr lvl="0"/>
            <a:r>
              <a:rPr lang="ar-SY" dirty="0" smtClean="0"/>
              <a:t> إيجاد المعادلات الديناميكية لحركة النواس.</a:t>
            </a:r>
            <a:endParaRPr lang="en-US" dirty="0" smtClean="0"/>
          </a:p>
          <a:p>
            <a:pPr lvl="0"/>
            <a:r>
              <a:rPr lang="ar-SY" dirty="0" smtClean="0"/>
              <a:t>إيجاد معادلات الحالة للنظام وتقريبه إلى نظام خطي ضمن مجال العمل وإيجاد توابع النقل.</a:t>
            </a:r>
            <a:endParaRPr lang="en-US" dirty="0" smtClean="0"/>
          </a:p>
          <a:p>
            <a:pPr lvl="0"/>
            <a:r>
              <a:rPr lang="ar-SY" dirty="0" smtClean="0"/>
              <a:t>تحليل الاستجابة الترددية للنظام في الحلقة المفتوحة.</a:t>
            </a:r>
            <a:endParaRPr lang="en-US" dirty="0" smtClean="0"/>
          </a:p>
          <a:p>
            <a:pPr lvl="0"/>
            <a:r>
              <a:rPr lang="ar-SY" dirty="0" smtClean="0"/>
              <a:t>محاكاة النظام ومقارنة التمثيل الرياضي للنظام مع النظام الحقيقي.</a:t>
            </a:r>
            <a:endParaRPr lang="en-US" dirty="0" smtClean="0"/>
          </a:p>
          <a:p>
            <a:pPr lvl="0"/>
            <a:r>
              <a:rPr lang="ar-SY" dirty="0" smtClean="0"/>
              <a:t>تصميم متحكم للنظام بطريقة توضع الأقطاب.</a:t>
            </a:r>
            <a:endParaRPr lang="en-US" dirty="0" smtClean="0"/>
          </a:p>
          <a:p>
            <a:pPr lvl="0"/>
            <a:r>
              <a:rPr lang="ar-SY" dirty="0" smtClean="0"/>
              <a:t>تصميم متحكم للنظام بطريقة التحكم الغامض.</a:t>
            </a:r>
            <a:endParaRPr lang="en-US" dirty="0" smtClean="0"/>
          </a:p>
          <a:p>
            <a:endParaRPr lang="ar-SY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7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عنوان 12"/>
          <p:cNvSpPr>
            <a:spLocks noGrp="1"/>
          </p:cNvSpPr>
          <p:nvPr>
            <p:ph type="title"/>
          </p:nvPr>
        </p:nvSpPr>
        <p:spPr>
          <a:xfrm>
            <a:off x="642910" y="4000504"/>
            <a:ext cx="8229600" cy="2428892"/>
          </a:xfrm>
        </p:spPr>
        <p:txBody>
          <a:bodyPr>
            <a:normAutofit fontScale="90000"/>
          </a:bodyPr>
          <a:lstStyle/>
          <a:p>
            <a:r>
              <a:rPr lang="ar-SY" dirty="0" smtClean="0"/>
              <a:t> </a:t>
            </a:r>
            <a:br>
              <a:rPr lang="ar-SY" dirty="0" smtClean="0"/>
            </a:br>
            <a:r>
              <a:rPr lang="ar-SY" dirty="0" smtClean="0"/>
              <a:t> </a:t>
            </a:r>
            <a:br>
              <a:rPr lang="ar-SY" dirty="0" smtClean="0"/>
            </a:br>
            <a:r>
              <a:rPr lang="ar-SY" dirty="0" smtClean="0"/>
              <a:t> </a:t>
            </a:r>
            <a:br>
              <a:rPr lang="ar-SY" dirty="0" smtClean="0"/>
            </a:br>
            <a:r>
              <a:rPr lang="ar-SY" dirty="0" smtClean="0"/>
              <a:t> </a:t>
            </a:r>
            <a:br>
              <a:rPr lang="ar-SY" dirty="0" smtClean="0"/>
            </a:br>
            <a:r>
              <a:rPr lang="ar-SY" dirty="0" smtClean="0"/>
              <a:t> </a:t>
            </a:r>
            <a:endParaRPr lang="ar-SY" dirty="0"/>
          </a:p>
        </p:txBody>
      </p:sp>
      <p:pic>
        <p:nvPicPr>
          <p:cNvPr id="4" name="عنصر نائب للمحتوى 3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71472" y="500042"/>
            <a:ext cx="3857652" cy="27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6750"/>
            <a:ext cx="190500" cy="314325"/>
          </a:xfrm>
          <a:prstGeom prst="rect">
            <a:avLst/>
          </a:prstGeom>
          <a:noFill/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3571876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1190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      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66750"/>
            <a:ext cx="190500" cy="314325"/>
          </a:xfrm>
          <a:prstGeom prst="rect">
            <a:avLst/>
          </a:prstGeom>
          <a:noFill/>
        </p:spPr>
      </p:pic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Y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981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Y"/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1190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      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1400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4" name="كائن 33"/>
          <p:cNvGraphicFramePr>
            <a:graphicFrameLocks noChangeAspect="1"/>
          </p:cNvGraphicFramePr>
          <p:nvPr/>
        </p:nvGraphicFramePr>
        <p:xfrm>
          <a:off x="1730375" y="3929063"/>
          <a:ext cx="6181725" cy="642937"/>
        </p:xfrm>
        <a:graphic>
          <a:graphicData uri="http://schemas.openxmlformats.org/presentationml/2006/ole">
            <p:oleObj spid="_x0000_s1049" name="Equation" r:id="rId5" imgW="1866600" imgH="241200" progId="Equation.DSMT4">
              <p:embed/>
            </p:oleObj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1428728" y="4786322"/>
          <a:ext cx="7143800" cy="693751"/>
        </p:xfrm>
        <a:graphic>
          <a:graphicData uri="http://schemas.openxmlformats.org/presentationml/2006/ole">
            <p:oleObj spid="_x0000_s1052" name="Equation" r:id="rId6" imgW="2374560" imgH="241200" progId="Equation.DSMT4">
              <p:embed/>
            </p:oleObj>
          </a:graphicData>
        </a:graphic>
      </p:graphicFrame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56" name="Object 32"/>
          <p:cNvGraphicFramePr>
            <a:graphicFrameLocks noChangeAspect="1"/>
          </p:cNvGraphicFramePr>
          <p:nvPr/>
        </p:nvGraphicFramePr>
        <p:xfrm>
          <a:off x="1428728" y="5643578"/>
          <a:ext cx="6615113" cy="641350"/>
        </p:xfrm>
        <a:graphic>
          <a:graphicData uri="http://schemas.openxmlformats.org/presentationml/2006/ole">
            <p:oleObj spid="_x0000_s1056" name="Equation" r:id="rId7" imgW="2171520" imgH="241200" progId="Equation.DSMT4">
              <p:embed/>
            </p:oleObj>
          </a:graphicData>
        </a:graphic>
      </p:graphicFrame>
      <p:pic>
        <p:nvPicPr>
          <p:cNvPr id="24" name="صورة 23"/>
          <p:cNvPicPr/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929190" y="571480"/>
            <a:ext cx="392909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عنصر نائب لرقم الشريحة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8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71472" y="357166"/>
            <a:ext cx="8229600" cy="5929322"/>
          </a:xfrm>
        </p:spPr>
        <p:txBody>
          <a:bodyPr/>
          <a:lstStyle/>
          <a:p>
            <a:pPr>
              <a:buNone/>
            </a:pPr>
            <a:r>
              <a:rPr lang="ar-SY" dirty="0" smtClean="0"/>
              <a:t>وبإصلاح المعادلات تصبح معادلات الحالة بالشكل التالي:</a:t>
            </a:r>
            <a:endParaRPr lang="en-US" dirty="0" smtClean="0"/>
          </a:p>
          <a:p>
            <a:pPr>
              <a:buNone/>
            </a:pPr>
            <a:r>
              <a:rPr lang="en-US" b="1" i="1" dirty="0" smtClean="0"/>
              <a:t> </a:t>
            </a:r>
            <a:endParaRPr lang="ar-SA" dirty="0"/>
          </a:p>
        </p:txBody>
      </p:sp>
      <p:graphicFrame>
        <p:nvGraphicFramePr>
          <p:cNvPr id="4" name="كائن 3"/>
          <p:cNvGraphicFramePr>
            <a:graphicFrameLocks noChangeAspect="1"/>
          </p:cNvGraphicFramePr>
          <p:nvPr/>
        </p:nvGraphicFramePr>
        <p:xfrm>
          <a:off x="642910" y="1285860"/>
          <a:ext cx="1982794" cy="785818"/>
        </p:xfrm>
        <a:graphic>
          <a:graphicData uri="http://schemas.openxmlformats.org/presentationml/2006/ole">
            <p:oleObj spid="_x0000_s22530" name="Equation" r:id="rId3" imgW="431640" imgH="241200" progId="Equation.DSMT4">
              <p:embed/>
            </p:oleObj>
          </a:graphicData>
        </a:graphic>
      </p:graphicFrame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642910" y="2428868"/>
          <a:ext cx="1857388" cy="785818"/>
        </p:xfrm>
        <a:graphic>
          <a:graphicData uri="http://schemas.openxmlformats.org/presentationml/2006/ole">
            <p:oleObj spid="_x0000_s22534" name="Equation" r:id="rId4" imgW="457200" imgH="241200" progId="Equation.DSMT4">
              <p:embed/>
            </p:oleObj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571472" y="4857760"/>
          <a:ext cx="7562885" cy="1233486"/>
        </p:xfrm>
        <a:graphic>
          <a:graphicData uri="http://schemas.openxmlformats.org/presentationml/2006/ole">
            <p:oleObj spid="_x0000_s22536" name="Equation" r:id="rId5" imgW="3085920" imgH="469800" progId="Equation.DSMT4">
              <p:embed/>
            </p:oleObj>
          </a:graphicData>
        </a:graphic>
      </p:graphicFrame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graphicFrame>
        <p:nvGraphicFramePr>
          <p:cNvPr id="10" name="كائن 9"/>
          <p:cNvGraphicFramePr>
            <a:graphicFrameLocks noChangeAspect="1"/>
          </p:cNvGraphicFramePr>
          <p:nvPr/>
        </p:nvGraphicFramePr>
        <p:xfrm>
          <a:off x="642910" y="3429000"/>
          <a:ext cx="7446966" cy="1143008"/>
        </p:xfrm>
        <a:graphic>
          <a:graphicData uri="http://schemas.openxmlformats.org/presentationml/2006/ole">
            <p:oleObj spid="_x0000_s22539" name="Equation" r:id="rId6" imgW="3238200" imgH="469800" progId="Equation.DSMT4">
              <p:embed/>
            </p:oleObj>
          </a:graphicData>
        </a:graphic>
      </p:graphicFrame>
      <p:sp>
        <p:nvSpPr>
          <p:cNvPr id="11" name="عنصر نائب لرقم الشريحة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9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عنصر نائب للمحتوى 11"/>
          <p:cNvPicPr>
            <a:picLocks noGrp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428736"/>
            <a:ext cx="6929485" cy="2093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عنصر نائب للمحتوى 10"/>
          <p:cNvSpPr>
            <a:spLocks noGrp="1"/>
          </p:cNvSpPr>
          <p:nvPr>
            <p:ph sz="quarter" idx="4"/>
          </p:nvPr>
        </p:nvSpPr>
        <p:spPr>
          <a:xfrm>
            <a:off x="1000100" y="285728"/>
            <a:ext cx="7286628" cy="80106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ar-SY" sz="28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منحنيات الاستجابة للعربة والنواس في الحلقة المفتوحة</a:t>
            </a:r>
          </a:p>
        </p:txBody>
      </p:sp>
      <p:pic>
        <p:nvPicPr>
          <p:cNvPr id="13" name="صورة 12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2976" y="3929066"/>
            <a:ext cx="6929486" cy="2228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10</a:t>
            </a:fld>
            <a:endParaRPr lang="ar-S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عنوان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ar-SY" sz="3000" b="1" i="1" dirty="0" smtClean="0"/>
              <a:t>تصميم متحكم باستخدام التغذية العكسية بالحالة</a:t>
            </a:r>
            <a:r>
              <a:rPr lang="en-US" sz="3000" dirty="0" smtClean="0"/>
              <a:t/>
            </a:r>
            <a:br>
              <a:rPr lang="en-US" sz="3000" dirty="0" smtClean="0"/>
            </a:br>
            <a:endParaRPr lang="ar-SY" sz="3000" dirty="0"/>
          </a:p>
        </p:txBody>
      </p:sp>
      <p:sp>
        <p:nvSpPr>
          <p:cNvPr id="8" name="عنصر نائب للمحتوى 7"/>
          <p:cNvSpPr>
            <a:spLocks noGrp="1"/>
          </p:cNvSpPr>
          <p:nvPr>
            <p:ph idx="1"/>
          </p:nvPr>
        </p:nvSpPr>
        <p:spPr>
          <a:xfrm>
            <a:off x="357158" y="1500174"/>
            <a:ext cx="8372476" cy="4572000"/>
          </a:xfrm>
        </p:spPr>
        <p:txBody>
          <a:bodyPr/>
          <a:lstStyle/>
          <a:p>
            <a:r>
              <a:rPr lang="ar-SY" dirty="0" smtClean="0"/>
              <a:t>الشكل التالي يظهر نظام النواس المقلوب بالتغذية العكسية بالحالة: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10" name="صورة 9"/>
          <p:cNvPicPr/>
          <p:nvPr/>
        </p:nvPicPr>
        <p:blipFill>
          <a:blip r:embed="rId2"/>
          <a:srcRect l="9848" t="28687" r="3485" b="13131"/>
          <a:stretch>
            <a:fillRect/>
          </a:stretch>
        </p:blipFill>
        <p:spPr bwMode="auto">
          <a:xfrm>
            <a:off x="1428728" y="2643182"/>
            <a:ext cx="61722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11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954766"/>
          </a:xfrm>
        </p:spPr>
        <p:txBody>
          <a:bodyPr/>
          <a:lstStyle/>
          <a:p>
            <a:r>
              <a:rPr lang="ar-SY" dirty="0" smtClean="0"/>
              <a:t>في هذه الطريقة إذا كان النظام المدروس قابل للتحكم فإن الأقطاب في الحلقة المغلقة يمكن أن توضع في أي موقع مرغوب وذلك باستخدام مصفوفة التغذية العكسية بالحالة . </a:t>
            </a:r>
            <a:endParaRPr lang="en-US" dirty="0" smtClean="0"/>
          </a:p>
          <a:p>
            <a:r>
              <a:rPr lang="ar-SA" dirty="0" smtClean="0"/>
              <a:t>نعرف متحولات الحالة ونكتب معادلات النظام بالشكل التالي :</a:t>
            </a:r>
          </a:p>
          <a:p>
            <a:endParaRPr lang="ar-SA" dirty="0" smtClean="0"/>
          </a:p>
          <a:p>
            <a:endParaRPr lang="ar-SA" dirty="0" smtClean="0"/>
          </a:p>
          <a:p>
            <a:endParaRPr lang="ar-SA" dirty="0" smtClean="0"/>
          </a:p>
          <a:p>
            <a:endParaRPr lang="ar-SA" dirty="0" smtClean="0"/>
          </a:p>
          <a:p>
            <a:endParaRPr lang="ar-SA" dirty="0" smtClean="0"/>
          </a:p>
          <a:p>
            <a:pPr>
              <a:buNone/>
            </a:pPr>
            <a:endParaRPr lang="ar-SY" dirty="0" smtClean="0"/>
          </a:p>
          <a:p>
            <a:pPr>
              <a:buNone/>
            </a:pPr>
            <a:endParaRPr lang="ar-SY" dirty="0"/>
          </a:p>
        </p:txBody>
      </p:sp>
      <p:graphicFrame>
        <p:nvGraphicFramePr>
          <p:cNvPr id="4" name="كائن 3"/>
          <p:cNvGraphicFramePr>
            <a:graphicFrameLocks noChangeAspect="1"/>
          </p:cNvGraphicFramePr>
          <p:nvPr/>
        </p:nvGraphicFramePr>
        <p:xfrm>
          <a:off x="3003550" y="1838325"/>
          <a:ext cx="114300" cy="177800"/>
        </p:xfrm>
        <a:graphic>
          <a:graphicData uri="http://schemas.openxmlformats.org/presentationml/2006/ole">
            <p:oleObj spid="_x0000_s18434" name="Equation" r:id="rId3" imgW="914400" imgH="198720" progId="Equation.DSMT4">
              <p:embed/>
            </p:oleObj>
          </a:graphicData>
        </a:graphic>
      </p:graphicFrame>
      <p:graphicFrame>
        <p:nvGraphicFramePr>
          <p:cNvPr id="6" name="كائن 5"/>
          <p:cNvGraphicFramePr>
            <a:graphicFrameLocks noChangeAspect="1"/>
          </p:cNvGraphicFramePr>
          <p:nvPr/>
        </p:nvGraphicFramePr>
        <p:xfrm>
          <a:off x="3003550" y="1838325"/>
          <a:ext cx="114300" cy="177800"/>
        </p:xfrm>
        <a:graphic>
          <a:graphicData uri="http://schemas.openxmlformats.org/presentationml/2006/ole">
            <p:oleObj spid="_x0000_s18436" name="Equation" r:id="rId4" imgW="914400" imgH="198720" progId="Equation.DSMT4">
              <p:embed/>
            </p:oleObj>
          </a:graphicData>
        </a:graphic>
      </p:graphicFrame>
      <p:graphicFrame>
        <p:nvGraphicFramePr>
          <p:cNvPr id="11" name="كائن 10"/>
          <p:cNvGraphicFramePr>
            <a:graphicFrameLocks noChangeAspect="1"/>
          </p:cNvGraphicFramePr>
          <p:nvPr/>
        </p:nvGraphicFramePr>
        <p:xfrm>
          <a:off x="3143240" y="5929330"/>
          <a:ext cx="3000396" cy="500066"/>
        </p:xfrm>
        <a:graphic>
          <a:graphicData uri="http://schemas.openxmlformats.org/presentationml/2006/ole">
            <p:oleObj spid="_x0000_s18441" name="Equation" r:id="rId5" imgW="1155600" imgH="203040" progId="Equation.DSMT4">
              <p:embed/>
            </p:oleObj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3071802" y="4572008"/>
          <a:ext cx="1428760" cy="488952"/>
        </p:xfrm>
        <a:graphic>
          <a:graphicData uri="http://schemas.openxmlformats.org/presentationml/2006/ole">
            <p:oleObj spid="_x0000_s18442" name="Equation" r:id="rId6" imgW="495000" imgH="203040" progId="Equation.DSMT4">
              <p:embed/>
            </p:oleObj>
          </a:graphicData>
        </a:graphic>
      </p:graphicFrame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3143240" y="5214950"/>
          <a:ext cx="2852754" cy="517528"/>
        </p:xfrm>
        <a:graphic>
          <a:graphicData uri="http://schemas.openxmlformats.org/presentationml/2006/ole">
            <p:oleObj spid="_x0000_s18443" name="Equation" r:id="rId7" imgW="990360" imgH="177480" progId="Equation.DSMT4">
              <p:embed/>
            </p:oleObj>
          </a:graphicData>
        </a:graphic>
      </p:graphicFrame>
      <p:graphicFrame>
        <p:nvGraphicFramePr>
          <p:cNvPr id="14" name="كائن 13"/>
          <p:cNvGraphicFramePr>
            <a:graphicFrameLocks noChangeAspect="1"/>
          </p:cNvGraphicFramePr>
          <p:nvPr/>
        </p:nvGraphicFramePr>
        <p:xfrm>
          <a:off x="3003550" y="1838325"/>
          <a:ext cx="114300" cy="177800"/>
        </p:xfrm>
        <a:graphic>
          <a:graphicData uri="http://schemas.openxmlformats.org/presentationml/2006/ole">
            <p:oleObj spid="_x0000_s18444" name="Equation" r:id="rId8" imgW="914400" imgH="198720" progId="Equation.DSMT4">
              <p:embed/>
            </p:oleObj>
          </a:graphicData>
        </a:graphic>
      </p:graphicFrame>
      <p:graphicFrame>
        <p:nvGraphicFramePr>
          <p:cNvPr id="15" name="كائن 14"/>
          <p:cNvGraphicFramePr>
            <a:graphicFrameLocks noChangeAspect="1"/>
          </p:cNvGraphicFramePr>
          <p:nvPr/>
        </p:nvGraphicFramePr>
        <p:xfrm>
          <a:off x="3143240" y="3857628"/>
          <a:ext cx="2928958" cy="500066"/>
        </p:xfrm>
        <a:graphic>
          <a:graphicData uri="http://schemas.openxmlformats.org/presentationml/2006/ole">
            <p:oleObj spid="_x0000_s18445" name="Equation" r:id="rId9" imgW="850680" imgH="177480" progId="Equation.DSMT4">
              <p:embed/>
            </p:oleObj>
          </a:graphicData>
        </a:graphic>
      </p:graphicFrame>
      <p:sp>
        <p:nvSpPr>
          <p:cNvPr id="16" name="عنصر نائب لرقم الشريحة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12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28596" y="642918"/>
            <a:ext cx="8229600" cy="4071966"/>
          </a:xfrm>
        </p:spPr>
        <p:txBody>
          <a:bodyPr/>
          <a:lstStyle/>
          <a:p>
            <a:r>
              <a:rPr lang="ar-SY" b="1" dirty="0" smtClean="0"/>
              <a:t>خطوات </a:t>
            </a:r>
            <a:r>
              <a:rPr lang="ar-SY" b="1" dirty="0" smtClean="0"/>
              <a:t>التصميم </a:t>
            </a:r>
          </a:p>
          <a:p>
            <a:pPr>
              <a:buNone/>
            </a:pPr>
            <a:r>
              <a:rPr lang="ar-SY" dirty="0" smtClean="0"/>
              <a:t>1-اختبار شرط قابلية التحكم بإيجاد المصفوفة</a:t>
            </a:r>
            <a:r>
              <a:rPr lang="en-US" dirty="0" smtClean="0"/>
              <a:t>M </a:t>
            </a:r>
            <a:endParaRPr lang="ar-SY" dirty="0" smtClean="0"/>
          </a:p>
          <a:p>
            <a:pPr lvl="0">
              <a:buNone/>
            </a:pPr>
            <a:r>
              <a:rPr lang="ar-SY" dirty="0" smtClean="0"/>
              <a:t>2-من كثير الحدود للمصفوفة </a:t>
            </a:r>
            <a:r>
              <a:rPr lang="en-US" dirty="0" smtClean="0"/>
              <a:t>A</a:t>
            </a:r>
            <a:endParaRPr lang="ar-SY" sz="3200" dirty="0" smtClean="0">
              <a:latin typeface="Arial" pitchFamily="34" charset="0"/>
              <a:ea typeface="Times New Roman" pitchFamily="18" charset="0"/>
              <a:cs typeface="Simplified Arabic" pitchFamily="2" charset="-78"/>
            </a:endParaRPr>
          </a:p>
          <a:p>
            <a:pPr lvl="0">
              <a:buNone/>
            </a:pPr>
            <a:endParaRPr lang="ar-SY" sz="3200" dirty="0" smtClean="0">
              <a:latin typeface="Arial" pitchFamily="34" charset="0"/>
              <a:ea typeface="Times New Roman" pitchFamily="18" charset="0"/>
              <a:cs typeface="Simplified Arabic" pitchFamily="2" charset="-78"/>
            </a:endParaRPr>
          </a:p>
          <a:p>
            <a:pPr lvl="0">
              <a:buNone/>
            </a:pPr>
            <a:r>
              <a:rPr lang="ar-SY" sz="3200" dirty="0" smtClean="0"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نحدد </a:t>
            </a:r>
            <a:r>
              <a:rPr lang="ar-SY" sz="3200" dirty="0" smtClean="0">
                <a:latin typeface="Arial" pitchFamily="34" charset="0"/>
                <a:ea typeface="Times New Roman" pitchFamily="18" charset="0"/>
                <a:cs typeface="Simplified Arabic" pitchFamily="2" charset="-78"/>
              </a:rPr>
              <a:t>القيم </a:t>
            </a:r>
            <a:endParaRPr lang="ar-SY" sz="4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ar-SY" dirty="0" smtClean="0"/>
              <a:t>3-نحدد مصفوفة التحويل </a:t>
            </a:r>
            <a:r>
              <a:rPr lang="en-US" dirty="0" smtClean="0"/>
              <a:t>T</a:t>
            </a:r>
            <a:r>
              <a:rPr lang="ar-SY" dirty="0" smtClean="0"/>
              <a:t> </a:t>
            </a:r>
            <a:r>
              <a:rPr lang="ar-SY" dirty="0" smtClean="0"/>
              <a:t>       </a:t>
            </a:r>
            <a:r>
              <a:rPr lang="en-US" dirty="0" smtClean="0"/>
              <a:t>T=M.W</a:t>
            </a:r>
          </a:p>
          <a:p>
            <a:pPr>
              <a:buNone/>
            </a:pPr>
            <a:r>
              <a:rPr lang="ar-SY" dirty="0" smtClean="0"/>
              <a:t>4-نكتب كثير الحدود المرغوب </a:t>
            </a:r>
            <a:r>
              <a:rPr lang="ar-SY" dirty="0" smtClean="0"/>
              <a:t>بالشكل</a:t>
            </a:r>
          </a:p>
          <a:p>
            <a:pPr>
              <a:buNone/>
            </a:pPr>
            <a:endParaRPr lang="ar-SY" dirty="0" smtClean="0"/>
          </a:p>
          <a:p>
            <a:pPr>
              <a:buNone/>
            </a:pPr>
            <a:endParaRPr lang="ar-SY" dirty="0" smtClean="0"/>
          </a:p>
          <a:p>
            <a:pPr>
              <a:buNone/>
            </a:pPr>
            <a:endParaRPr lang="ar-SY" dirty="0" smtClean="0"/>
          </a:p>
          <a:p>
            <a:pPr>
              <a:buNone/>
            </a:pPr>
            <a:endParaRPr lang="ar-SA" dirty="0" smtClean="0"/>
          </a:p>
          <a:p>
            <a:pPr>
              <a:buNone/>
            </a:pPr>
            <a:endParaRPr lang="ar-SY" dirty="0" smtClean="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graphicFrame>
        <p:nvGraphicFramePr>
          <p:cNvPr id="7" name="كائن 6"/>
          <p:cNvGraphicFramePr>
            <a:graphicFrameLocks noChangeAspect="1"/>
          </p:cNvGraphicFramePr>
          <p:nvPr/>
        </p:nvGraphicFramePr>
        <p:xfrm>
          <a:off x="2857488" y="2428868"/>
          <a:ext cx="4143404" cy="428628"/>
        </p:xfrm>
        <a:graphic>
          <a:graphicData uri="http://schemas.openxmlformats.org/presentationml/2006/ole">
            <p:oleObj spid="_x0000_s41989" name="Equation" r:id="rId3" imgW="2273040" imgH="241200" progId="Equation.DSMT4">
              <p:embed/>
            </p:oleObj>
          </a:graphicData>
        </a:graphic>
      </p:graphicFrame>
      <p:graphicFrame>
        <p:nvGraphicFramePr>
          <p:cNvPr id="10" name="كائن 9"/>
          <p:cNvGraphicFramePr>
            <a:graphicFrameLocks noChangeAspect="1"/>
          </p:cNvGraphicFramePr>
          <p:nvPr/>
        </p:nvGraphicFramePr>
        <p:xfrm>
          <a:off x="4714876" y="3000372"/>
          <a:ext cx="2314578" cy="428628"/>
        </p:xfrm>
        <a:graphic>
          <a:graphicData uri="http://schemas.openxmlformats.org/presentationml/2006/ole">
            <p:oleObj spid="_x0000_s41992" name="Equation" r:id="rId4" imgW="698400" imgH="228600" progId="Equation.DSMT4">
              <p:embed/>
            </p:oleObj>
          </a:graphicData>
        </a:graphic>
      </p:graphicFrame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3" name="عنصر نائب لرقم الشريحة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13</a:t>
            </a:fld>
            <a:endParaRPr lang="ar-SY"/>
          </a:p>
        </p:txBody>
      </p:sp>
      <p:graphicFrame>
        <p:nvGraphicFramePr>
          <p:cNvPr id="42000" name="Object 16"/>
          <p:cNvGraphicFramePr>
            <a:graphicFrameLocks noChangeAspect="1"/>
          </p:cNvGraphicFramePr>
          <p:nvPr/>
        </p:nvGraphicFramePr>
        <p:xfrm>
          <a:off x="1000100" y="4786322"/>
          <a:ext cx="7286625" cy="428625"/>
        </p:xfrm>
        <a:graphic>
          <a:graphicData uri="http://schemas.openxmlformats.org/presentationml/2006/ole">
            <p:oleObj spid="_x0000_s42000" name="Equation" r:id="rId5" imgW="340344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954766"/>
          </a:xfrm>
        </p:spPr>
        <p:txBody>
          <a:bodyPr/>
          <a:lstStyle/>
          <a:p>
            <a:endParaRPr lang="ar-SY" dirty="0" smtClean="0"/>
          </a:p>
          <a:p>
            <a:pPr>
              <a:buNone/>
            </a:pPr>
            <a:r>
              <a:rPr lang="ar-SY" dirty="0" smtClean="0"/>
              <a:t>ونحدد </a:t>
            </a:r>
            <a:r>
              <a:rPr lang="ar-SY" dirty="0" smtClean="0"/>
              <a:t>القيم  :</a:t>
            </a:r>
          </a:p>
          <a:p>
            <a:pPr>
              <a:buNone/>
            </a:pPr>
            <a:r>
              <a:rPr lang="ar-SY" dirty="0" smtClean="0"/>
              <a:t>5-مصفوفة التغذية العكسية المرغوبة </a:t>
            </a:r>
            <a:r>
              <a:rPr lang="en-US" i="1" dirty="0" smtClean="0"/>
              <a:t>K </a:t>
            </a:r>
            <a:r>
              <a:rPr lang="ar-SY" dirty="0" smtClean="0"/>
              <a:t> يمكن أن تحدد بالمعادلة التالية </a:t>
            </a:r>
          </a:p>
          <a:p>
            <a:pPr>
              <a:buNone/>
            </a:pPr>
            <a:endParaRPr lang="ar-SY" dirty="0" smtClean="0"/>
          </a:p>
          <a:p>
            <a:pPr>
              <a:buNone/>
            </a:pPr>
            <a:endParaRPr lang="ar-SY" dirty="0" smtClean="0"/>
          </a:p>
          <a:p>
            <a:pPr>
              <a:buNone/>
            </a:pPr>
            <a:r>
              <a:rPr lang="ar-SY" dirty="0" smtClean="0"/>
              <a:t>وبحساب قيم الربح </a:t>
            </a:r>
            <a:r>
              <a:rPr lang="en-US" dirty="0" smtClean="0"/>
              <a:t>K</a:t>
            </a:r>
            <a:r>
              <a:rPr lang="ar-SA" dirty="0" smtClean="0"/>
              <a:t>: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6" name="كائن 5"/>
          <p:cNvGraphicFramePr>
            <a:graphicFrameLocks noChangeAspect="1"/>
          </p:cNvGraphicFramePr>
          <p:nvPr/>
        </p:nvGraphicFramePr>
        <p:xfrm>
          <a:off x="3857620" y="1214422"/>
          <a:ext cx="2357454" cy="371476"/>
        </p:xfrm>
        <a:graphic>
          <a:graphicData uri="http://schemas.openxmlformats.org/presentationml/2006/ole">
            <p:oleObj spid="_x0000_s43012" name="Equation" r:id="rId3" imgW="799920" imgH="228600" progId="Equation.DSMT4">
              <p:embed/>
            </p:oleObj>
          </a:graphicData>
        </a:graphic>
      </p:graphicFrame>
      <p:graphicFrame>
        <p:nvGraphicFramePr>
          <p:cNvPr id="7" name="كائن 6"/>
          <p:cNvGraphicFramePr>
            <a:graphicFrameLocks noChangeAspect="1"/>
          </p:cNvGraphicFramePr>
          <p:nvPr/>
        </p:nvGraphicFramePr>
        <p:xfrm>
          <a:off x="1714480" y="2928934"/>
          <a:ext cx="2593988" cy="428628"/>
        </p:xfrm>
        <a:graphic>
          <a:graphicData uri="http://schemas.openxmlformats.org/presentationml/2006/ole">
            <p:oleObj spid="_x0000_s43013" name="Equation" r:id="rId4" imgW="736560" imgH="228600" progId="Equation.DSMT4">
              <p:embed/>
            </p:oleObj>
          </a:graphicData>
        </a:graphic>
      </p:graphicFrame>
      <p:graphicFrame>
        <p:nvGraphicFramePr>
          <p:cNvPr id="8" name="كائن 7"/>
          <p:cNvGraphicFramePr>
            <a:graphicFrameLocks noChangeAspect="1"/>
          </p:cNvGraphicFramePr>
          <p:nvPr/>
        </p:nvGraphicFramePr>
        <p:xfrm>
          <a:off x="4357686" y="2928934"/>
          <a:ext cx="1643074" cy="428628"/>
        </p:xfrm>
        <a:graphic>
          <a:graphicData uri="http://schemas.openxmlformats.org/presentationml/2006/ole">
            <p:oleObj spid="_x0000_s43014" name="Equation" r:id="rId5" imgW="634680" imgH="228600" progId="Equation.DSMT4">
              <p:embed/>
            </p:oleObj>
          </a:graphicData>
        </a:graphic>
      </p:graphicFrame>
      <p:graphicFrame>
        <p:nvGraphicFramePr>
          <p:cNvPr id="9" name="كائن 8"/>
          <p:cNvGraphicFramePr>
            <a:graphicFrameLocks noChangeAspect="1"/>
          </p:cNvGraphicFramePr>
          <p:nvPr/>
        </p:nvGraphicFramePr>
        <p:xfrm>
          <a:off x="5929322" y="3000372"/>
          <a:ext cx="2071702" cy="455614"/>
        </p:xfrm>
        <a:graphic>
          <a:graphicData uri="http://schemas.openxmlformats.org/presentationml/2006/ole">
            <p:oleObj spid="_x0000_s43015" name="Equation" r:id="rId6" imgW="672840" imgH="241200" progId="Equation.DSMT4">
              <p:embed/>
            </p:oleObj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857356" y="4643446"/>
          <a:ext cx="1857388" cy="500066"/>
        </p:xfrm>
        <a:graphic>
          <a:graphicData uri="http://schemas.openxmlformats.org/presentationml/2006/ole">
            <p:oleObj spid="_x0000_s43016" name="Equation" r:id="rId7" imgW="596880" imgH="228600" progId="Equation.DSMT4">
              <p:embed/>
            </p:oleObj>
          </a:graphicData>
        </a:graphic>
      </p:graphicFrame>
      <p:graphicFrame>
        <p:nvGraphicFramePr>
          <p:cNvPr id="43017" name="Object 6"/>
          <p:cNvGraphicFramePr>
            <a:graphicFrameLocks noChangeAspect="1"/>
          </p:cNvGraphicFramePr>
          <p:nvPr/>
        </p:nvGraphicFramePr>
        <p:xfrm>
          <a:off x="4643438" y="4643446"/>
          <a:ext cx="2000250" cy="500066"/>
        </p:xfrm>
        <a:graphic>
          <a:graphicData uri="http://schemas.openxmlformats.org/presentationml/2006/ole">
            <p:oleObj spid="_x0000_s43017" name="Equation" r:id="rId8" imgW="596880" imgH="228600" progId="Equation.DSMT4">
              <p:embed/>
            </p:oleObj>
          </a:graphicData>
        </a:graphic>
      </p:graphicFrame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1785918" y="5572140"/>
          <a:ext cx="2085975" cy="500066"/>
        </p:xfrm>
        <a:graphic>
          <a:graphicData uri="http://schemas.openxmlformats.org/presentationml/2006/ole">
            <p:oleObj spid="_x0000_s43018" name="Equation" r:id="rId9" imgW="622080" imgH="228600" progId="Equation.DSMT4">
              <p:embed/>
            </p:oleObj>
          </a:graphicData>
        </a:graphic>
      </p:graphicFrame>
      <p:graphicFrame>
        <p:nvGraphicFramePr>
          <p:cNvPr id="43019" name="Object 11"/>
          <p:cNvGraphicFramePr>
            <a:graphicFrameLocks noChangeAspect="1"/>
          </p:cNvGraphicFramePr>
          <p:nvPr/>
        </p:nvGraphicFramePr>
        <p:xfrm>
          <a:off x="4857752" y="5643578"/>
          <a:ext cx="1787525" cy="500066"/>
        </p:xfrm>
        <a:graphic>
          <a:graphicData uri="http://schemas.openxmlformats.org/presentationml/2006/ole">
            <p:oleObj spid="_x0000_s43019" name="Equation" r:id="rId10" imgW="533160" imgH="228600" progId="Equation.DSMT4">
              <p:embed/>
            </p:oleObj>
          </a:graphicData>
        </a:graphic>
      </p:graphicFrame>
      <p:sp>
        <p:nvSpPr>
          <p:cNvPr id="14" name="عنصر نائب لرقم الشريحة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14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4"/>
          <p:cNvSpPr>
            <a:spLocks noGrp="1"/>
          </p:cNvSpPr>
          <p:nvPr>
            <p:ph type="title"/>
          </p:nvPr>
        </p:nvSpPr>
        <p:spPr>
          <a:xfrm>
            <a:off x="500002" y="285728"/>
            <a:ext cx="8643998" cy="1399032"/>
          </a:xfrm>
        </p:spPr>
        <p:txBody>
          <a:bodyPr>
            <a:normAutofit/>
          </a:bodyPr>
          <a:lstStyle/>
          <a:p>
            <a:pPr algn="r"/>
            <a:r>
              <a:rPr lang="ar-SA" sz="3200" dirty="0" smtClean="0">
                <a:solidFill>
                  <a:srgbClr val="00B0F0"/>
                </a:solidFill>
              </a:rPr>
              <a:t>منحنيات الاستجابة بوجود متحكم تغذية عكسية </a:t>
            </a:r>
            <a:endParaRPr lang="ar-SY" sz="3200" dirty="0">
              <a:solidFill>
                <a:srgbClr val="00B0F0"/>
              </a:solidFill>
            </a:endParaRPr>
          </a:p>
        </p:txBody>
      </p:sp>
      <p:pic>
        <p:nvPicPr>
          <p:cNvPr id="4" name="عنصر نائب للمحتوى 3"/>
          <p:cNvPicPr>
            <a:picLocks noGrp="1"/>
          </p:cNvPicPr>
          <p:nvPr>
            <p:ph idx="4294967295"/>
          </p:nvPr>
        </p:nvPicPr>
        <p:blipFill>
          <a:blip r:embed="rId2"/>
          <a:srcRect t="9691" b="7319"/>
          <a:stretch>
            <a:fillRect/>
          </a:stretch>
        </p:blipFill>
        <p:spPr bwMode="auto">
          <a:xfrm>
            <a:off x="500034" y="1714488"/>
            <a:ext cx="8229600" cy="464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15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SY" sz="2800" b="1" dirty="0" smtClean="0"/>
              <a:t>نظام الاستدلال الغامض </a:t>
            </a:r>
            <a:r>
              <a:rPr lang="en-US" sz="2800" b="1" dirty="0" smtClean="0"/>
              <a:t>Fuzzy inference system</a:t>
            </a:r>
            <a:r>
              <a:rPr lang="ar-SY" sz="2800" b="1" dirty="0" smtClean="0"/>
              <a:t>:</a:t>
            </a:r>
            <a:endParaRPr lang="ar-SY" sz="2800" dirty="0"/>
          </a:p>
        </p:txBody>
      </p:sp>
      <p:pic>
        <p:nvPicPr>
          <p:cNvPr id="6" name="صورة 3" descr="22بدون عنوان"/>
          <p:cNvPicPr/>
          <p:nvPr/>
        </p:nvPicPr>
        <p:blipFill>
          <a:blip r:embed="rId2"/>
          <a:srcRect b="26750"/>
          <a:stretch>
            <a:fillRect/>
          </a:stretch>
        </p:blipFill>
        <p:spPr bwMode="auto">
          <a:xfrm>
            <a:off x="642910" y="2166936"/>
            <a:ext cx="7858180" cy="2976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16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SY" sz="2800" b="1" dirty="0" smtClean="0"/>
              <a:t>متحكم </a:t>
            </a:r>
            <a:r>
              <a:rPr lang="en-US" sz="2800" b="1" dirty="0" smtClean="0"/>
              <a:t>PD</a:t>
            </a:r>
            <a:r>
              <a:rPr lang="ar-SY" sz="2800" b="1" dirty="0" smtClean="0"/>
              <a:t>الغامض</a:t>
            </a:r>
            <a:endParaRPr lang="ar-SY" sz="28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285860"/>
            <a:ext cx="2990850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32" y="1428736"/>
            <a:ext cx="1200150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مستطيل 4"/>
          <p:cNvSpPr/>
          <p:nvPr/>
        </p:nvSpPr>
        <p:spPr>
          <a:xfrm>
            <a:off x="500034" y="4714884"/>
            <a:ext cx="88582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ar-SY" dirty="0" smtClean="0"/>
              <a:t>       </a:t>
            </a:r>
            <a:r>
              <a:rPr lang="en-US" b="1" dirty="0" smtClean="0"/>
              <a:t>If error is </a:t>
            </a:r>
            <a:r>
              <a:rPr lang="en-US" b="1" dirty="0" err="1" smtClean="0"/>
              <a:t>neglarge</a:t>
            </a:r>
            <a:r>
              <a:rPr lang="en-US" b="1" dirty="0" smtClean="0"/>
              <a:t> and change-in-error is </a:t>
            </a:r>
            <a:r>
              <a:rPr lang="en-US" b="1" dirty="0" err="1" smtClean="0"/>
              <a:t>neglarge</a:t>
            </a:r>
            <a:r>
              <a:rPr lang="en-US" b="1" dirty="0" smtClean="0"/>
              <a:t> Then force is </a:t>
            </a:r>
            <a:r>
              <a:rPr lang="en-US" b="1" dirty="0" err="1" smtClean="0"/>
              <a:t>poslarg</a:t>
            </a:r>
            <a:endParaRPr lang="en-US" i="1" dirty="0" smtClean="0"/>
          </a:p>
          <a:p>
            <a:pPr algn="just"/>
            <a:r>
              <a:rPr lang="ar-SY" dirty="0" smtClean="0"/>
              <a:t>          </a:t>
            </a:r>
            <a:r>
              <a:rPr lang="en-US" b="1" dirty="0" smtClean="0"/>
              <a:t>If error is zero and change-in-error is </a:t>
            </a:r>
            <a:r>
              <a:rPr lang="en-US" b="1" dirty="0" err="1" smtClean="0"/>
              <a:t>possmall</a:t>
            </a:r>
            <a:r>
              <a:rPr lang="en-US" b="1" dirty="0" smtClean="0"/>
              <a:t> Then force is </a:t>
            </a:r>
            <a:r>
              <a:rPr lang="en-US" b="1" dirty="0" err="1" smtClean="0"/>
              <a:t>negsmal</a:t>
            </a:r>
            <a:r>
              <a:rPr lang="en-US" b="1" dirty="0" smtClean="0"/>
              <a:t>    </a:t>
            </a:r>
            <a:endParaRPr lang="ar-SY" i="1" dirty="0" smtClean="0"/>
          </a:p>
          <a:p>
            <a:pPr algn="just"/>
            <a:r>
              <a:rPr lang="ar-SY" b="1" dirty="0" smtClean="0"/>
              <a:t>     </a:t>
            </a:r>
            <a:r>
              <a:rPr lang="en-US" b="1" dirty="0" smtClean="0"/>
              <a:t>If error is </a:t>
            </a:r>
            <a:r>
              <a:rPr lang="en-US" b="1" dirty="0" err="1" smtClean="0"/>
              <a:t>poslarge</a:t>
            </a:r>
            <a:r>
              <a:rPr lang="en-US" b="1" dirty="0" smtClean="0"/>
              <a:t> and change-in-error is </a:t>
            </a:r>
            <a:r>
              <a:rPr lang="en-US" b="1" dirty="0" err="1" smtClean="0"/>
              <a:t>negsmall</a:t>
            </a:r>
            <a:r>
              <a:rPr lang="en-US" b="1" dirty="0" smtClean="0"/>
              <a:t> Then force is </a:t>
            </a:r>
            <a:r>
              <a:rPr lang="en-US" b="1" dirty="0" err="1" smtClean="0"/>
              <a:t>negsmall</a:t>
            </a:r>
            <a:endParaRPr lang="ar-SY" dirty="0" smtClean="0"/>
          </a:p>
          <a:p>
            <a:pPr algn="just"/>
            <a:endParaRPr lang="ar-SY" dirty="0" smtClean="0"/>
          </a:p>
          <a:p>
            <a:pPr algn="just"/>
            <a:r>
              <a:rPr lang="ar-SY" dirty="0" smtClean="0"/>
              <a:t>       ونضع القواعد جميعها في الجدول التالي: </a:t>
            </a:r>
            <a:endParaRPr lang="ar-SA" dirty="0"/>
          </a:p>
        </p:txBody>
      </p:sp>
      <p:pic>
        <p:nvPicPr>
          <p:cNvPr id="3584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643174" y="3000372"/>
            <a:ext cx="438150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17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48828" t="35382" r="1505" b="34930"/>
          <a:stretch>
            <a:fillRect/>
          </a:stretch>
        </p:blipFill>
        <p:spPr bwMode="auto">
          <a:xfrm>
            <a:off x="1071538" y="785794"/>
            <a:ext cx="707236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18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/>
          <a:srcRect l="10254" t="20898" b="11718"/>
          <a:stretch>
            <a:fillRect/>
          </a:stretch>
        </p:blipFill>
        <p:spPr bwMode="auto">
          <a:xfrm>
            <a:off x="-9072658" y="1071546"/>
            <a:ext cx="8753468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2"/>
          <a:srcRect l="8056" t="15625" r="6250" b="14062"/>
          <a:stretch>
            <a:fillRect/>
          </a:stretch>
        </p:blipFill>
        <p:spPr bwMode="auto">
          <a:xfrm>
            <a:off x="428596" y="1214422"/>
            <a:ext cx="835821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عنوان 8"/>
          <p:cNvSpPr>
            <a:spLocks noGrp="1"/>
          </p:cNvSpPr>
          <p:nvPr>
            <p:ph type="title"/>
          </p:nvPr>
        </p:nvSpPr>
        <p:spPr>
          <a:xfrm>
            <a:off x="914400" y="285728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ar-SY" sz="3200" dirty="0" smtClean="0"/>
              <a:t>محاكاة النظام بوجود المتحكم الغامض </a:t>
            </a:r>
            <a:endParaRPr lang="ar-SY" sz="3200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19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214290"/>
            <a:ext cx="8229600" cy="1399032"/>
          </a:xfrm>
        </p:spPr>
        <p:txBody>
          <a:bodyPr/>
          <a:lstStyle/>
          <a:p>
            <a:r>
              <a:rPr lang="ar-SY" sz="3200" dirty="0" smtClean="0"/>
              <a:t>منحنيات الاستجابة بوجود المتحكم الغامض</a:t>
            </a:r>
            <a:r>
              <a:rPr lang="ar-SY" dirty="0" smtClean="0"/>
              <a:t> </a:t>
            </a:r>
            <a:endParaRPr lang="ar-SY" dirty="0"/>
          </a:p>
        </p:txBody>
      </p:sp>
      <p:pic>
        <p:nvPicPr>
          <p:cNvPr id="3" name="صورة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000240"/>
            <a:ext cx="635798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صورة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500570"/>
            <a:ext cx="642942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20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لمحتوى 3"/>
          <p:cNvSpPr>
            <a:spLocks noGrp="1"/>
          </p:cNvSpPr>
          <p:nvPr>
            <p:ph idx="1"/>
          </p:nvPr>
        </p:nvSpPr>
        <p:spPr>
          <a:xfrm>
            <a:off x="914400" y="357166"/>
            <a:ext cx="7658128" cy="5072098"/>
          </a:xfrm>
        </p:spPr>
        <p:txBody>
          <a:bodyPr/>
          <a:lstStyle/>
          <a:p>
            <a:r>
              <a:rPr lang="ar-SY" dirty="0" smtClean="0"/>
              <a:t>ومن أجل مقارنة استجابة النظام لكل من المتحكمين السابقين </a:t>
            </a:r>
            <a:r>
              <a:rPr lang="ar-SY" dirty="0" err="1" smtClean="0"/>
              <a:t>الـ</a:t>
            </a:r>
            <a:r>
              <a:rPr lang="ar-SY" dirty="0" smtClean="0"/>
              <a:t> </a:t>
            </a:r>
            <a:r>
              <a:rPr lang="en-US" dirty="0" smtClean="0"/>
              <a:t>state feedback</a:t>
            </a:r>
            <a:r>
              <a:rPr lang="ar-SY" dirty="0" smtClean="0"/>
              <a:t> والـ  </a:t>
            </a:r>
            <a:r>
              <a:rPr lang="en-US" dirty="0" smtClean="0"/>
              <a:t>Fuzzy</a:t>
            </a:r>
            <a:r>
              <a:rPr lang="ar-SY" dirty="0" smtClean="0"/>
              <a:t>نرسم هذه الاستجابات على شكل واحد كما يلي: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ar-SY" dirty="0"/>
          </a:p>
        </p:txBody>
      </p:sp>
      <p:pic>
        <p:nvPicPr>
          <p:cNvPr id="5" name="صورة 4"/>
          <p:cNvPicPr/>
          <p:nvPr/>
        </p:nvPicPr>
        <p:blipFill>
          <a:blip r:embed="rId2">
            <a:lum contrast="40000"/>
          </a:blip>
          <a:srcRect l="-1727"/>
          <a:stretch>
            <a:fillRect/>
          </a:stretch>
        </p:blipFill>
        <p:spPr bwMode="auto">
          <a:xfrm>
            <a:off x="1071538" y="2786058"/>
            <a:ext cx="685804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21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عنصر نائب للمحتوى 3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500166" y="714356"/>
            <a:ext cx="5929354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عنصر نائب للمحتوى 6"/>
          <p:cNvSpPr>
            <a:spLocks noGrp="1"/>
          </p:cNvSpPr>
          <p:nvPr>
            <p:ph sz="half" idx="2"/>
          </p:nvPr>
        </p:nvSpPr>
        <p:spPr>
          <a:xfrm>
            <a:off x="571472" y="3786190"/>
            <a:ext cx="8115328" cy="2462210"/>
          </a:xfrm>
        </p:spPr>
        <p:txBody>
          <a:bodyPr>
            <a:normAutofit lnSpcReduction="10000"/>
          </a:bodyPr>
          <a:lstStyle/>
          <a:p>
            <a:r>
              <a:rPr lang="ar-SA" dirty="0" smtClean="0"/>
              <a:t>ومن المقارنة بين الاستجابتين نجد أن التصميم بطريقة </a:t>
            </a:r>
            <a:r>
              <a:rPr lang="ar-SA" dirty="0" err="1" smtClean="0"/>
              <a:t>ال</a:t>
            </a:r>
            <a:r>
              <a:rPr lang="en-US" dirty="0" smtClean="0"/>
              <a:t>State feedback </a:t>
            </a:r>
            <a:r>
              <a:rPr lang="ar-SA" dirty="0" smtClean="0"/>
              <a:t> أفضل من التصميم بالتحكم الغامض من ناحية سرعة الاستجابة </a:t>
            </a:r>
            <a:r>
              <a:rPr lang="ar-SA" dirty="0" err="1" smtClean="0"/>
              <a:t>للاهتزازت</a:t>
            </a:r>
            <a:r>
              <a:rPr lang="ar-SA" dirty="0" smtClean="0"/>
              <a:t>  وذلك بالنسبة للموضع والزاوية  .</a:t>
            </a:r>
            <a:endParaRPr lang="ar-SY" dirty="0" smtClean="0"/>
          </a:p>
          <a:p>
            <a:r>
              <a:rPr lang="ar-SY" dirty="0" smtClean="0"/>
              <a:t>وأما بالنسبة للتطبيق العملي فقد واجهتنا بعض الصعوبات ولم نحصل على نتائج عملية مرضية .</a:t>
            </a:r>
            <a:endParaRPr lang="en-US" dirty="0" smtClean="0"/>
          </a:p>
          <a:p>
            <a:endParaRPr lang="ar-SA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22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6026204"/>
          </a:xfrm>
        </p:spPr>
        <p:txBody>
          <a:bodyPr/>
          <a:lstStyle/>
          <a:p>
            <a:r>
              <a:rPr lang="ar-SY" dirty="0" smtClean="0"/>
              <a:t>وأثناء التطبيق العملي على التجربة كانت لدينا الاستجابات التالية 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4" name="صورة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857364"/>
            <a:ext cx="6572296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صورة 4"/>
          <p:cNvPicPr/>
          <p:nvPr/>
        </p:nvPicPr>
        <p:blipFill>
          <a:blip r:embed="rId3"/>
          <a:srcRect t="2801"/>
          <a:stretch>
            <a:fillRect/>
          </a:stretch>
        </p:blipFill>
        <p:spPr bwMode="auto">
          <a:xfrm>
            <a:off x="1428728" y="4286256"/>
            <a:ext cx="6429420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23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097642"/>
          </a:xfrm>
        </p:spPr>
        <p:txBody>
          <a:bodyPr/>
          <a:lstStyle/>
          <a:p>
            <a:r>
              <a:rPr lang="ar-SY" dirty="0" smtClean="0"/>
              <a:t>وبالمقارنة بين التمثيل الرياضي والتجربة العملية نحصل على الاستجابات التالية :</a:t>
            </a:r>
            <a:endParaRPr lang="en-US" dirty="0" smtClean="0"/>
          </a:p>
          <a:p>
            <a:endParaRPr lang="ar-SY" dirty="0"/>
          </a:p>
        </p:txBody>
      </p:sp>
      <p:pic>
        <p:nvPicPr>
          <p:cNvPr id="4" name="صورة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3" y="1776413"/>
            <a:ext cx="6572296" cy="2224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صورة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286256"/>
            <a:ext cx="6572296" cy="220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24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SY" dirty="0" smtClean="0"/>
              <a:t>التطويرات المستقبلية</a:t>
            </a:r>
            <a:r>
              <a:rPr lang="en-US" dirty="0" smtClean="0"/>
              <a:t/>
            </a:r>
            <a:br>
              <a:rPr lang="en-US" dirty="0" smtClean="0"/>
            </a:b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72000"/>
          </a:xfrm>
        </p:spPr>
        <p:txBody>
          <a:bodyPr/>
          <a:lstStyle/>
          <a:p>
            <a:r>
              <a:rPr lang="ar-SY" dirty="0" smtClean="0"/>
              <a:t>يمكن توسيع هذا التطبيق بحيث يتم العمل على قلب وموازنة النواس وفق زاوية محددة  أي نقوم بداية بقلب النواس للأعلى وتحريك الذراع إلى الموضع المرغوب.</a:t>
            </a: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25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كائن 4">
            <a:hlinkClick r:id="rId3" action="ppaction://hlinkfile"/>
          </p:cNvPr>
          <p:cNvGraphicFramePr>
            <a:graphicFrameLocks noChangeAspect="1"/>
          </p:cNvGraphicFramePr>
          <p:nvPr/>
        </p:nvGraphicFramePr>
        <p:xfrm>
          <a:off x="3000364" y="2214554"/>
          <a:ext cx="3714776" cy="3070675"/>
        </p:xfrm>
        <a:graphic>
          <a:graphicData uri="http://schemas.openxmlformats.org/presentationml/2006/ole">
            <p:oleObj spid="_x0000_s27650" name="Package" r:id="rId4" imgW="380880" imgH="485640" progId="Package">
              <p:embed/>
            </p:oleObj>
          </a:graphicData>
        </a:graphic>
      </p:graphicFrame>
      <p:sp>
        <p:nvSpPr>
          <p:cNvPr id="6" name="مربع نص 5"/>
          <p:cNvSpPr txBox="1"/>
          <p:nvPr/>
        </p:nvSpPr>
        <p:spPr>
          <a:xfrm>
            <a:off x="2643174" y="857232"/>
            <a:ext cx="4429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التطبيق العملي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A24E-D863-4F07-97A2-72DA0D0DF09F}" type="slidenum">
              <a:rPr lang="ar-SY" smtClean="0"/>
              <a:pPr/>
              <a:t>26</a:t>
            </a:fld>
            <a:endParaRPr lang="ar-SY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حيوية">
  <a:themeElements>
    <a:clrScheme name="حيوية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حيوية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حيوية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حيوية">
    <a:dk1>
      <a:sysClr val="windowText" lastClr="000000"/>
    </a:dk1>
    <a:lt1>
      <a:sysClr val="window" lastClr="FFFFFF"/>
    </a:lt1>
    <a:dk2>
      <a:srgbClr val="666666"/>
    </a:dk2>
    <a:lt2>
      <a:srgbClr val="D2D2D2"/>
    </a:lt2>
    <a:accent1>
      <a:srgbClr val="FF388C"/>
    </a:accent1>
    <a:accent2>
      <a:srgbClr val="E40059"/>
    </a:accent2>
    <a:accent3>
      <a:srgbClr val="9C007F"/>
    </a:accent3>
    <a:accent4>
      <a:srgbClr val="68007F"/>
    </a:accent4>
    <a:accent5>
      <a:srgbClr val="005BD3"/>
    </a:accent5>
    <a:accent6>
      <a:srgbClr val="00349E"/>
    </a:accent6>
    <a:hlink>
      <a:srgbClr val="17BBFD"/>
    </a:hlink>
    <a:folHlink>
      <a:srgbClr val="FF79C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</TotalTime>
  <Words>550</Words>
  <Application>Microsoft Office PowerPoint</Application>
  <PresentationFormat>عرض على الشاشة (3:4)‏</PresentationFormat>
  <Paragraphs>99</Paragraphs>
  <Slides>26</Slides>
  <Notes>0</Notes>
  <HiddenSlides>0</HiddenSlides>
  <MMClips>0</MMClips>
  <ScaleCrop>false</ScaleCrop>
  <HeadingPairs>
    <vt:vector size="6" baseType="variant">
      <vt:variant>
        <vt:lpstr>سمة</vt:lpstr>
      </vt:variant>
      <vt:variant>
        <vt:i4>1</vt:i4>
      </vt:variant>
      <vt:variant>
        <vt:lpstr>خوادم OLE مضمنة</vt:lpstr>
      </vt:variant>
      <vt:variant>
        <vt:i4>2</vt:i4>
      </vt:variant>
      <vt:variant>
        <vt:lpstr>عناوين الشرائح</vt:lpstr>
      </vt:variant>
      <vt:variant>
        <vt:i4>26</vt:i4>
      </vt:variant>
    </vt:vector>
  </HeadingPairs>
  <TitlesOfParts>
    <vt:vector size="29" baseType="lpstr">
      <vt:lpstr>حيوية</vt:lpstr>
      <vt:lpstr>Equation</vt:lpstr>
      <vt:lpstr>Package</vt:lpstr>
      <vt:lpstr>تحليل وتصميم متحكم خطي لنظام النواس المقلوب </vt:lpstr>
      <vt:lpstr>الشريحة 2</vt:lpstr>
      <vt:lpstr>الشريحة 3</vt:lpstr>
      <vt:lpstr>الشريحة 4</vt:lpstr>
      <vt:lpstr>الشريحة 5</vt:lpstr>
      <vt:lpstr>الشريحة 6</vt:lpstr>
      <vt:lpstr>الشريحة 7</vt:lpstr>
      <vt:lpstr>         </vt:lpstr>
      <vt:lpstr>الشريحة 9</vt:lpstr>
      <vt:lpstr>الشريحة 10</vt:lpstr>
      <vt:lpstr>تصميم متحكم باستخدام التغذية العكسية بالحالة </vt:lpstr>
      <vt:lpstr>الشريحة 12</vt:lpstr>
      <vt:lpstr>الشريحة 13</vt:lpstr>
      <vt:lpstr>الشريحة 14</vt:lpstr>
      <vt:lpstr>منحنيات الاستجابة بوجود متحكم تغذية عكسية </vt:lpstr>
      <vt:lpstr>نظام الاستدلال الغامض Fuzzy inference system:</vt:lpstr>
      <vt:lpstr>متحكم PDالغامض</vt:lpstr>
      <vt:lpstr>الشريحة 18</vt:lpstr>
      <vt:lpstr>محاكاة النظام بوجود المتحكم الغامض </vt:lpstr>
      <vt:lpstr>منحنيات الاستجابة بوجود المتحكم الغامض </vt:lpstr>
      <vt:lpstr>الشريحة 21</vt:lpstr>
      <vt:lpstr>الشريحة 22</vt:lpstr>
      <vt:lpstr>الشريحة 23</vt:lpstr>
      <vt:lpstr>الشريحة 24</vt:lpstr>
      <vt:lpstr>التطويرات المستقبلية </vt:lpstr>
      <vt:lpstr>الشريحة 26</vt:lpstr>
    </vt:vector>
  </TitlesOfParts>
  <Company>sraj aldeen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a</dc:creator>
  <cp:lastModifiedBy>رضوان رضوان</cp:lastModifiedBy>
  <cp:revision>61</cp:revision>
  <dcterms:created xsi:type="dcterms:W3CDTF">2009-04-16T00:49:01Z</dcterms:created>
  <dcterms:modified xsi:type="dcterms:W3CDTF">2009-05-08T17:42:59Z</dcterms:modified>
</cp:coreProperties>
</file>