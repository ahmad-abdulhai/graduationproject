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56" r:id="rId1"/>
  </p:sldMasterIdLst>
  <p:sldIdLst>
    <p:sldId id="277" r:id="rId2"/>
    <p:sldId id="258" r:id="rId3"/>
    <p:sldId id="257" r:id="rId4"/>
    <p:sldId id="261" r:id="rId5"/>
    <p:sldId id="259" r:id="rId6"/>
    <p:sldId id="260" r:id="rId7"/>
    <p:sldId id="275" r:id="rId8"/>
    <p:sldId id="262" r:id="rId9"/>
    <p:sldId id="263" r:id="rId10"/>
    <p:sldId id="264" r:id="rId11"/>
    <p:sldId id="265" r:id="rId12"/>
    <p:sldId id="266" r:id="rId13"/>
    <p:sldId id="276" r:id="rId14"/>
    <p:sldId id="27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8" r:id="rId23"/>
  </p:sldIdLst>
  <p:sldSz cx="9144000" cy="6858000" type="screen4x3"/>
  <p:notesSz cx="6858000" cy="9144000"/>
  <p:defaultTextStyle>
    <a:defPPr>
      <a:defRPr lang="ar-SY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83881" autoAdjust="0"/>
    <p:restoredTop sz="94660"/>
  </p:normalViewPr>
  <p:slideViewPr>
    <p:cSldViewPr>
      <p:cViewPr varScale="1">
        <p:scale>
          <a:sx n="65" d="100"/>
          <a:sy n="65" d="100"/>
        </p:scale>
        <p:origin x="-96" y="-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jpe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ثلث متساوي الساقين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ar-SY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ثلث قائم الزاوية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مثلث متساوي الساقين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  <p:cxnSp>
        <p:nvCxnSpPr>
          <p:cNvPr id="11" name="رابط مستقيم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رابط مستقيم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ar-SY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ar-SY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ar-SY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ar-SY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مثلث قائم الزاوية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رابط مستقيم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رابط مستقيم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43C8DB7-D73B-4861-9050-6DB877EDAF29}" type="datetimeFigureOut">
              <a:rPr lang="ar-SY" smtClean="0"/>
              <a:pPr/>
              <a:t>12/05/1430</a:t>
            </a:fld>
            <a:endParaRPr lang="ar-SY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ar-SY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marL="484632" algn="l" rtl="1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r" rtl="1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r" rtl="1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r" rtl="1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r" rtl="1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7.e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&#1575;&#1604;&#1578;&#1591;&#1576;&#1610;&#1602;%20&#1575;&#1604;&#1593;&#1605;&#1604;&#1610;.avi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71472" y="571480"/>
            <a:ext cx="8229600" cy="1399032"/>
          </a:xfrm>
        </p:spPr>
        <p:txBody>
          <a:bodyPr>
            <a:normAutofit fontScale="90000"/>
          </a:bodyPr>
          <a:lstStyle/>
          <a:p>
            <a:pPr algn="ctr"/>
            <a:r>
              <a:rPr lang="ar-SY" b="1" dirty="0" smtClean="0"/>
              <a:t>تحليل وتصميم متحكم خطي لنظام النواس المقلوب</a:t>
            </a:r>
            <a:r>
              <a:rPr lang="en-US" dirty="0" smtClean="0"/>
              <a:t/>
            </a:r>
            <a:br>
              <a:rPr lang="en-US" dirty="0" smtClean="0"/>
            </a:b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28596" y="2643182"/>
            <a:ext cx="8229600" cy="4572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إعداد الطالبتان </a:t>
            </a:r>
          </a:p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رهف شيخ دبس      الرزان رضوان </a:t>
            </a:r>
          </a:p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بإشراف </a:t>
            </a:r>
          </a:p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 الدكتور المهندس         الدكتور المهندس                              </a:t>
            </a:r>
          </a:p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       أنس فتوح                  عماد الروح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 descr="Grad5.jpg"/>
          <p:cNvPicPr>
            <a:picLocks noChangeAspect="1"/>
          </p:cNvPicPr>
          <p:nvPr/>
        </p:nvPicPr>
        <p:blipFill>
          <a:blip r:embed="rId2"/>
          <a:srcRect l="30039" t="47917" r="25969" b="28125"/>
          <a:stretch>
            <a:fillRect/>
          </a:stretch>
        </p:blipFill>
        <p:spPr>
          <a:xfrm>
            <a:off x="428596" y="785794"/>
            <a:ext cx="8429684" cy="528641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00034" y="1071546"/>
            <a:ext cx="8229600" cy="4572000"/>
          </a:xfrm>
        </p:spPr>
        <p:txBody>
          <a:bodyPr>
            <a:normAutofit fontScale="92500" lnSpcReduction="10000"/>
          </a:bodyPr>
          <a:lstStyle/>
          <a:p>
            <a:r>
              <a:rPr lang="ar-SY" dirty="0" smtClean="0"/>
              <a:t>يعتبر النواس المقلوب من أنظمة التحكم وحيدة الدخل متعددة المخارج، لاخطية وغير مستقرة.</a:t>
            </a:r>
          </a:p>
          <a:p>
            <a:r>
              <a:rPr lang="ar-SY" dirty="0" smtClean="0"/>
              <a:t>يتألف هذا النظام من عربة </a:t>
            </a:r>
            <a:r>
              <a:rPr lang="ar-SY" dirty="0" err="1" smtClean="0"/>
              <a:t>مقادة</a:t>
            </a:r>
            <a:r>
              <a:rPr lang="ar-SY" dirty="0" smtClean="0"/>
              <a:t> أفقياً بواسطة محرك </a:t>
            </a:r>
            <a:r>
              <a:rPr lang="en-US" dirty="0" smtClean="0"/>
              <a:t>DC</a:t>
            </a:r>
            <a:r>
              <a:rPr lang="ar-SY" dirty="0" smtClean="0"/>
              <a:t> ويتم إيجاد موضع النواس عن طريق حساس موضع.</a:t>
            </a:r>
          </a:p>
          <a:p>
            <a:r>
              <a:rPr lang="ar-SY" dirty="0" smtClean="0"/>
              <a:t>يتوضع على العربة نواس مثبت من أحد طرفيه وحر من الطرف الآخر ويتم قياس زاوية هذا النواس بواسطة حساس رقمي (</a:t>
            </a:r>
            <a:r>
              <a:rPr lang="en-US" dirty="0" smtClean="0"/>
              <a:t>.(encoder</a:t>
            </a:r>
            <a:endParaRPr lang="ar-SY" dirty="0" smtClean="0"/>
          </a:p>
          <a:p>
            <a:r>
              <a:rPr lang="ar-SY" dirty="0" smtClean="0"/>
              <a:t>إن الهدف من التحكم في هذا النظام هو تحريك العربة إلى الموضع المرغوب وبأداء عالي بحيث يبقى النواس في الموضع الشاقولي العلوي. </a:t>
            </a:r>
            <a:endParaRPr lang="ar-SY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169080"/>
          </a:xfrm>
        </p:spPr>
        <p:txBody>
          <a:bodyPr/>
          <a:lstStyle/>
          <a:p>
            <a:pPr>
              <a:buNone/>
            </a:pPr>
            <a:r>
              <a:rPr lang="ar-SY" b="1" dirty="0" smtClean="0"/>
              <a:t>مكونات التجربة 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4" name="صورة 3"/>
          <p:cNvPicPr/>
          <p:nvPr/>
        </p:nvPicPr>
        <p:blipFill>
          <a:blip r:embed="rId2"/>
          <a:srcRect l="19212" t="25773" r="11230" b="25545"/>
          <a:stretch>
            <a:fillRect/>
          </a:stretch>
        </p:blipFill>
        <p:spPr bwMode="auto">
          <a:xfrm>
            <a:off x="1681162" y="1262062"/>
            <a:ext cx="5781675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95476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ar-SY" sz="35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المراحل المختلفة لإنجاز التحكم بالنواس المقلوب :</a:t>
            </a:r>
            <a:endParaRPr lang="en-US" sz="3500" b="1" dirty="0" smtClean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/>
            <a:r>
              <a:rPr lang="ar-SY" dirty="0" smtClean="0"/>
              <a:t>دراسة مكونات النظام الفيزيائية والبرمجية.</a:t>
            </a:r>
            <a:endParaRPr lang="en-US" dirty="0" smtClean="0"/>
          </a:p>
          <a:p>
            <a:pPr lvl="0"/>
            <a:r>
              <a:rPr lang="ar-SY" dirty="0" smtClean="0"/>
              <a:t> إيجاد المعادلات الديناميكية لحركة النواس.</a:t>
            </a:r>
            <a:endParaRPr lang="en-US" dirty="0" smtClean="0"/>
          </a:p>
          <a:p>
            <a:pPr lvl="0"/>
            <a:r>
              <a:rPr lang="ar-SY" dirty="0" smtClean="0"/>
              <a:t>إيجاد معادلات الحالة للنظام وتقريبه إلى نظام خطي ضمن مجال العمل وإيجاد توابع النقل.</a:t>
            </a:r>
            <a:endParaRPr lang="en-US" dirty="0" smtClean="0"/>
          </a:p>
          <a:p>
            <a:pPr lvl="0"/>
            <a:r>
              <a:rPr lang="ar-SY" dirty="0" smtClean="0"/>
              <a:t>تحليل الاستجابة الترددية للنظام في الحلقة المفتوحة.</a:t>
            </a:r>
            <a:endParaRPr lang="en-US" dirty="0" smtClean="0"/>
          </a:p>
          <a:p>
            <a:pPr lvl="0"/>
            <a:r>
              <a:rPr lang="ar-SY" dirty="0" smtClean="0"/>
              <a:t>محاكاة النظام ومقارنة التمثيل الرياضي للنظام مع النظام الحقيقي.</a:t>
            </a:r>
            <a:endParaRPr lang="en-US" dirty="0" smtClean="0"/>
          </a:p>
          <a:p>
            <a:pPr lvl="0"/>
            <a:r>
              <a:rPr lang="ar-SY" dirty="0" smtClean="0"/>
              <a:t>تصميم متحكم للنظام بطريقة توضع الأقطاب.</a:t>
            </a:r>
            <a:endParaRPr lang="en-US" dirty="0" smtClean="0"/>
          </a:p>
          <a:p>
            <a:pPr lvl="0"/>
            <a:r>
              <a:rPr lang="ar-SY" dirty="0" smtClean="0"/>
              <a:t>تصميم متحكم للنظام بطريقة التحكم الغامض.</a:t>
            </a:r>
            <a:endParaRPr lang="en-US" dirty="0" smtClean="0"/>
          </a:p>
          <a:p>
            <a:endParaRPr lang="ar-SY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عنوان 12"/>
          <p:cNvSpPr>
            <a:spLocks noGrp="1"/>
          </p:cNvSpPr>
          <p:nvPr>
            <p:ph type="title"/>
          </p:nvPr>
        </p:nvSpPr>
        <p:spPr>
          <a:xfrm>
            <a:off x="642910" y="4000504"/>
            <a:ext cx="8229600" cy="2428892"/>
          </a:xfrm>
        </p:spPr>
        <p:txBody>
          <a:bodyPr>
            <a:normAutofit fontScale="90000"/>
          </a:bodyPr>
          <a:lstStyle/>
          <a:p>
            <a:r>
              <a:rPr lang="ar-SY" dirty="0" smtClean="0"/>
              <a:t> </a:t>
            </a:r>
            <a:br>
              <a:rPr lang="ar-SY" dirty="0" smtClean="0"/>
            </a:br>
            <a:r>
              <a:rPr lang="ar-SY" dirty="0" smtClean="0"/>
              <a:t> </a:t>
            </a:r>
            <a:br>
              <a:rPr lang="ar-SY" dirty="0" smtClean="0"/>
            </a:br>
            <a:r>
              <a:rPr lang="ar-SY" dirty="0" smtClean="0"/>
              <a:t> </a:t>
            </a:r>
            <a:br>
              <a:rPr lang="ar-SY" dirty="0" smtClean="0"/>
            </a:br>
            <a:r>
              <a:rPr lang="ar-SY" dirty="0" smtClean="0"/>
              <a:t> </a:t>
            </a:r>
            <a:br>
              <a:rPr lang="ar-SY" dirty="0" smtClean="0"/>
            </a:br>
            <a:r>
              <a:rPr lang="ar-SY" dirty="0" smtClean="0"/>
              <a:t> </a:t>
            </a:r>
            <a:endParaRPr lang="ar-SY" dirty="0"/>
          </a:p>
        </p:txBody>
      </p:sp>
      <p:pic>
        <p:nvPicPr>
          <p:cNvPr id="4" name="عنصر نائب للمحتوى 3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71472" y="500042"/>
            <a:ext cx="3857652" cy="27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6750"/>
            <a:ext cx="190500" cy="314325"/>
          </a:xfrm>
          <a:prstGeom prst="rect">
            <a:avLst/>
          </a:prstGeom>
          <a:noFill/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3571876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1190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      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6750"/>
            <a:ext cx="190500" cy="314325"/>
          </a:xfrm>
          <a:prstGeom prst="rect">
            <a:avLst/>
          </a:prstGeom>
          <a:noFill/>
        </p:spPr>
      </p:pic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Y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1190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      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1400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4" name="كائن 33"/>
          <p:cNvGraphicFramePr>
            <a:graphicFrameLocks noChangeAspect="1"/>
          </p:cNvGraphicFramePr>
          <p:nvPr/>
        </p:nvGraphicFramePr>
        <p:xfrm>
          <a:off x="1500166" y="3929066"/>
          <a:ext cx="6643734" cy="642942"/>
        </p:xfrm>
        <a:graphic>
          <a:graphicData uri="http://schemas.openxmlformats.org/presentationml/2006/ole">
            <p:oleObj spid="_x0000_s1049" name="Equation" r:id="rId5" imgW="2006280" imgH="241200" progId="Equation.DSMT4">
              <p:embed/>
            </p:oleObj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1428728" y="4786322"/>
          <a:ext cx="7143800" cy="693751"/>
        </p:xfrm>
        <a:graphic>
          <a:graphicData uri="http://schemas.openxmlformats.org/presentationml/2006/ole">
            <p:oleObj spid="_x0000_s1052" name="Equation" r:id="rId6" imgW="2374560" imgH="241200" progId="Equation.DSMT4">
              <p:embed/>
            </p:oleObj>
          </a:graphicData>
        </a:graphic>
      </p:graphicFrame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56" name="Object 32"/>
          <p:cNvGraphicFramePr>
            <a:graphicFrameLocks noChangeAspect="1"/>
          </p:cNvGraphicFramePr>
          <p:nvPr/>
        </p:nvGraphicFramePr>
        <p:xfrm>
          <a:off x="1549400" y="5645150"/>
          <a:ext cx="6615113" cy="641350"/>
        </p:xfrm>
        <a:graphic>
          <a:graphicData uri="http://schemas.openxmlformats.org/presentationml/2006/ole">
            <p:oleObj spid="_x0000_s1056" name="Equation" r:id="rId7" imgW="2171520" imgH="241200" progId="Equation.DSMT4">
              <p:embed/>
            </p:oleObj>
          </a:graphicData>
        </a:graphic>
      </p:graphicFrame>
      <p:pic>
        <p:nvPicPr>
          <p:cNvPr id="24" name="صورة 23"/>
          <p:cNvPicPr/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929190" y="571480"/>
            <a:ext cx="392909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71472" y="357166"/>
            <a:ext cx="8229600" cy="5929322"/>
          </a:xfrm>
        </p:spPr>
        <p:txBody>
          <a:bodyPr/>
          <a:lstStyle/>
          <a:p>
            <a:pPr>
              <a:buNone/>
            </a:pPr>
            <a:r>
              <a:rPr lang="ar-SY" dirty="0" smtClean="0"/>
              <a:t>وبإصلاح المعادلات تصبح معادلات الحالة بالشكل التالي: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 </a:t>
            </a:r>
            <a:endParaRPr lang="ar-SA" dirty="0"/>
          </a:p>
        </p:txBody>
      </p:sp>
      <p:graphicFrame>
        <p:nvGraphicFramePr>
          <p:cNvPr id="4" name="كائن 3"/>
          <p:cNvGraphicFramePr>
            <a:graphicFrameLocks noChangeAspect="1"/>
          </p:cNvGraphicFramePr>
          <p:nvPr/>
        </p:nvGraphicFramePr>
        <p:xfrm>
          <a:off x="3000364" y="1357299"/>
          <a:ext cx="1982794" cy="785818"/>
        </p:xfrm>
        <a:graphic>
          <a:graphicData uri="http://schemas.openxmlformats.org/presentationml/2006/ole">
            <p:oleObj spid="_x0000_s22530" name="Equation" r:id="rId3" imgW="431640" imgH="241200" progId="Equation.DSMT4">
              <p:embed/>
            </p:oleObj>
          </a:graphicData>
        </a:graphic>
      </p:graphicFrame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3000364" y="2428868"/>
          <a:ext cx="1857388" cy="785818"/>
        </p:xfrm>
        <a:graphic>
          <a:graphicData uri="http://schemas.openxmlformats.org/presentationml/2006/ole">
            <p:oleObj spid="_x0000_s22534" name="Equation" r:id="rId4" imgW="457200" imgH="241200" progId="Equation.DSMT4">
              <p:embed/>
            </p:oleObj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854325" y="3357563"/>
          <a:ext cx="4006850" cy="1214437"/>
        </p:xfrm>
        <a:graphic>
          <a:graphicData uri="http://schemas.openxmlformats.org/presentationml/2006/ole">
            <p:oleObj spid="_x0000_s22535" name="Equation" r:id="rId5" imgW="1396800" imgH="393480" progId="Equation.DSMT4">
              <p:embed/>
            </p:oleObj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2928926" y="4643446"/>
          <a:ext cx="3786214" cy="1214446"/>
        </p:xfrm>
        <a:graphic>
          <a:graphicData uri="http://schemas.openxmlformats.org/presentationml/2006/ole">
            <p:oleObj spid="_x0000_s22536" name="Equation" r:id="rId6" imgW="133344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عنصر نائب للمحتوى 11"/>
          <p:cNvPicPr>
            <a:picLocks noGrp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428736"/>
            <a:ext cx="6929485" cy="2093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عنصر نائب للمحتوى 10"/>
          <p:cNvSpPr>
            <a:spLocks noGrp="1"/>
          </p:cNvSpPr>
          <p:nvPr>
            <p:ph sz="quarter" idx="4"/>
          </p:nvPr>
        </p:nvSpPr>
        <p:spPr>
          <a:xfrm>
            <a:off x="1000100" y="285728"/>
            <a:ext cx="7286628" cy="80106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ar-SY" sz="28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منحنيات الاستجابة للعربة والنواس في الحلقة المفتوحة</a:t>
            </a:r>
          </a:p>
        </p:txBody>
      </p:sp>
      <p:pic>
        <p:nvPicPr>
          <p:cNvPr id="13" name="صورة 12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2976" y="3929066"/>
            <a:ext cx="6929486" cy="2228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عنوان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ar-SY" sz="3000" b="1" i="1" dirty="0" smtClean="0"/>
              <a:t>تصميم متحكم باستخدام التغذية العكسية بالحالة</a:t>
            </a:r>
            <a:r>
              <a:rPr lang="en-US" sz="3000" dirty="0" smtClean="0"/>
              <a:t/>
            </a:r>
            <a:br>
              <a:rPr lang="en-US" sz="3000" dirty="0" smtClean="0"/>
            </a:br>
            <a:endParaRPr lang="ar-SY" sz="3000" dirty="0"/>
          </a:p>
        </p:txBody>
      </p:sp>
      <p:sp>
        <p:nvSpPr>
          <p:cNvPr id="8" name="عنصر نائب للمحتوى 7"/>
          <p:cNvSpPr>
            <a:spLocks noGrp="1"/>
          </p:cNvSpPr>
          <p:nvPr>
            <p:ph idx="1"/>
          </p:nvPr>
        </p:nvSpPr>
        <p:spPr>
          <a:xfrm>
            <a:off x="357158" y="1500174"/>
            <a:ext cx="8372476" cy="4572000"/>
          </a:xfrm>
        </p:spPr>
        <p:txBody>
          <a:bodyPr/>
          <a:lstStyle/>
          <a:p>
            <a:r>
              <a:rPr lang="ar-SY" dirty="0" smtClean="0"/>
              <a:t>الشكل التالي يظهر نظام النواس المقلوب بالتغذية العكسية بالحالة: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10" name="صورة 9"/>
          <p:cNvPicPr/>
          <p:nvPr/>
        </p:nvPicPr>
        <p:blipFill>
          <a:blip r:embed="rId2"/>
          <a:srcRect l="9848" t="28687" r="3485" b="13131"/>
          <a:stretch>
            <a:fillRect/>
          </a:stretch>
        </p:blipFill>
        <p:spPr bwMode="auto">
          <a:xfrm>
            <a:off x="1428728" y="2643182"/>
            <a:ext cx="61722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954766"/>
          </a:xfrm>
        </p:spPr>
        <p:txBody>
          <a:bodyPr/>
          <a:lstStyle/>
          <a:p>
            <a:r>
              <a:rPr lang="ar-SA" dirty="0" smtClean="0"/>
              <a:t>نعرف متحولات الحالة ونكتب معادلات النظام بالشكل التالي :</a:t>
            </a:r>
          </a:p>
          <a:p>
            <a:endParaRPr lang="ar-SA" dirty="0" smtClean="0"/>
          </a:p>
          <a:p>
            <a:endParaRPr lang="ar-SA" dirty="0" smtClean="0"/>
          </a:p>
          <a:p>
            <a:endParaRPr lang="ar-SA" dirty="0" smtClean="0"/>
          </a:p>
          <a:p>
            <a:endParaRPr lang="ar-SA" dirty="0" smtClean="0"/>
          </a:p>
          <a:p>
            <a:pPr>
              <a:buNone/>
            </a:pPr>
            <a:endParaRPr lang="ar-SY" dirty="0" smtClean="0"/>
          </a:p>
          <a:p>
            <a:r>
              <a:rPr lang="ar-SY" dirty="0" smtClean="0"/>
              <a:t>وبحساب قيم الربح </a:t>
            </a:r>
            <a:r>
              <a:rPr lang="en-US" dirty="0" smtClean="0"/>
              <a:t>K</a:t>
            </a:r>
            <a:r>
              <a:rPr lang="ar-SA" dirty="0" smtClean="0"/>
              <a:t>:</a:t>
            </a:r>
          </a:p>
          <a:p>
            <a:pPr>
              <a:buNone/>
            </a:pPr>
            <a:endParaRPr lang="ar-SY" dirty="0"/>
          </a:p>
        </p:txBody>
      </p:sp>
      <p:graphicFrame>
        <p:nvGraphicFramePr>
          <p:cNvPr id="4" name="كائن 3"/>
          <p:cNvGraphicFramePr>
            <a:graphicFrameLocks noChangeAspect="1"/>
          </p:cNvGraphicFramePr>
          <p:nvPr/>
        </p:nvGraphicFramePr>
        <p:xfrm>
          <a:off x="3003550" y="1838325"/>
          <a:ext cx="114300" cy="177800"/>
        </p:xfrm>
        <a:graphic>
          <a:graphicData uri="http://schemas.openxmlformats.org/presentationml/2006/ole">
            <p:oleObj spid="_x0000_s18434" name="Equation" r:id="rId3" imgW="914400" imgH="198720" progId="Equation.DSMT4">
              <p:embed/>
            </p:oleObj>
          </a:graphicData>
        </a:graphic>
      </p:graphicFrame>
      <p:graphicFrame>
        <p:nvGraphicFramePr>
          <p:cNvPr id="6" name="كائن 5"/>
          <p:cNvGraphicFramePr>
            <a:graphicFrameLocks noChangeAspect="1"/>
          </p:cNvGraphicFramePr>
          <p:nvPr/>
        </p:nvGraphicFramePr>
        <p:xfrm>
          <a:off x="3003550" y="1838325"/>
          <a:ext cx="114300" cy="177800"/>
        </p:xfrm>
        <a:graphic>
          <a:graphicData uri="http://schemas.openxmlformats.org/presentationml/2006/ole">
            <p:oleObj spid="_x0000_s18436" name="Equation" r:id="rId4" imgW="914400" imgH="198720" progId="Equation.DSMT4">
              <p:embed/>
            </p:oleObj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1714480" y="4786322"/>
          <a:ext cx="2000264" cy="571504"/>
        </p:xfrm>
        <a:graphic>
          <a:graphicData uri="http://schemas.openxmlformats.org/presentationml/2006/ole">
            <p:oleObj spid="_x0000_s18437" name="Equation" r:id="rId5" imgW="596880" imgH="228600" progId="Equation.DSMT4">
              <p:embed/>
            </p:oleObj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1714480" y="5643578"/>
          <a:ext cx="2085975" cy="571504"/>
        </p:xfrm>
        <a:graphic>
          <a:graphicData uri="http://schemas.openxmlformats.org/presentationml/2006/ole">
            <p:oleObj spid="_x0000_s18438" name="Equation" r:id="rId6" imgW="622080" imgH="228600" progId="Equation.DSMT4">
              <p:embed/>
            </p:oleObj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5929322" y="4857760"/>
          <a:ext cx="2000250" cy="642942"/>
        </p:xfrm>
        <a:graphic>
          <a:graphicData uri="http://schemas.openxmlformats.org/presentationml/2006/ole">
            <p:oleObj spid="_x0000_s18439" name="Equation" r:id="rId7" imgW="596880" imgH="228600" progId="Equation.DSMT4">
              <p:embed/>
            </p:oleObj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5857884" y="5572140"/>
          <a:ext cx="1787525" cy="642942"/>
        </p:xfrm>
        <a:graphic>
          <a:graphicData uri="http://schemas.openxmlformats.org/presentationml/2006/ole">
            <p:oleObj spid="_x0000_s18440" name="Equation" r:id="rId8" imgW="533160" imgH="228600" progId="Equation.DSMT4">
              <p:embed/>
            </p:oleObj>
          </a:graphicData>
        </a:graphic>
      </p:graphicFrame>
      <p:graphicFrame>
        <p:nvGraphicFramePr>
          <p:cNvPr id="11" name="كائن 10"/>
          <p:cNvGraphicFramePr>
            <a:graphicFrameLocks noChangeAspect="1"/>
          </p:cNvGraphicFramePr>
          <p:nvPr/>
        </p:nvGraphicFramePr>
        <p:xfrm>
          <a:off x="3000364" y="3643314"/>
          <a:ext cx="3000396" cy="500066"/>
        </p:xfrm>
        <a:graphic>
          <a:graphicData uri="http://schemas.openxmlformats.org/presentationml/2006/ole">
            <p:oleObj spid="_x0000_s18441" name="Equation" r:id="rId9" imgW="1155600" imgH="203040" progId="Equation.DSMT4">
              <p:embed/>
            </p:oleObj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3071802" y="2428868"/>
          <a:ext cx="1428760" cy="488952"/>
        </p:xfrm>
        <a:graphic>
          <a:graphicData uri="http://schemas.openxmlformats.org/presentationml/2006/ole">
            <p:oleObj spid="_x0000_s18442" name="Equation" r:id="rId10" imgW="495000" imgH="203040" progId="Equation.DSMT4">
              <p:embed/>
            </p:oleObj>
          </a:graphicData>
        </a:graphic>
      </p:graphicFrame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3000364" y="2928934"/>
          <a:ext cx="2852754" cy="517528"/>
        </p:xfrm>
        <a:graphic>
          <a:graphicData uri="http://schemas.openxmlformats.org/presentationml/2006/ole">
            <p:oleObj spid="_x0000_s18443" name="Equation" r:id="rId11" imgW="990360" imgH="177480" progId="Equation.DSMT4">
              <p:embed/>
            </p:oleObj>
          </a:graphicData>
        </a:graphic>
      </p:graphicFrame>
      <p:graphicFrame>
        <p:nvGraphicFramePr>
          <p:cNvPr id="14" name="كائن 13"/>
          <p:cNvGraphicFramePr>
            <a:graphicFrameLocks noChangeAspect="1"/>
          </p:cNvGraphicFramePr>
          <p:nvPr/>
        </p:nvGraphicFramePr>
        <p:xfrm>
          <a:off x="3003550" y="1838325"/>
          <a:ext cx="114300" cy="177800"/>
        </p:xfrm>
        <a:graphic>
          <a:graphicData uri="http://schemas.openxmlformats.org/presentationml/2006/ole">
            <p:oleObj spid="_x0000_s18444" name="Equation" r:id="rId12" imgW="914400" imgH="198720" progId="Equation.DSMT4">
              <p:embed/>
            </p:oleObj>
          </a:graphicData>
        </a:graphic>
      </p:graphicFrame>
      <p:graphicFrame>
        <p:nvGraphicFramePr>
          <p:cNvPr id="15" name="كائن 14"/>
          <p:cNvGraphicFramePr>
            <a:graphicFrameLocks noChangeAspect="1"/>
          </p:cNvGraphicFramePr>
          <p:nvPr/>
        </p:nvGraphicFramePr>
        <p:xfrm>
          <a:off x="3071802" y="1714488"/>
          <a:ext cx="2928958" cy="500066"/>
        </p:xfrm>
        <a:graphic>
          <a:graphicData uri="http://schemas.openxmlformats.org/presentationml/2006/ole">
            <p:oleObj spid="_x0000_s18445" name="Equation" r:id="rId13" imgW="850680" imgH="177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4"/>
          <p:cNvSpPr>
            <a:spLocks noGrp="1"/>
          </p:cNvSpPr>
          <p:nvPr>
            <p:ph type="title"/>
          </p:nvPr>
        </p:nvSpPr>
        <p:spPr>
          <a:xfrm>
            <a:off x="500002" y="285728"/>
            <a:ext cx="8643998" cy="1399032"/>
          </a:xfrm>
        </p:spPr>
        <p:txBody>
          <a:bodyPr>
            <a:normAutofit/>
          </a:bodyPr>
          <a:lstStyle/>
          <a:p>
            <a:pPr algn="r"/>
            <a:r>
              <a:rPr lang="ar-SA" sz="3200" dirty="0" smtClean="0">
                <a:solidFill>
                  <a:srgbClr val="00B0F0"/>
                </a:solidFill>
              </a:rPr>
              <a:t>منحنيات الاستجابة بوجود متحكم تغذية عكسية </a:t>
            </a:r>
            <a:endParaRPr lang="ar-SY" sz="3200" dirty="0">
              <a:solidFill>
                <a:srgbClr val="00B0F0"/>
              </a:solidFill>
            </a:endParaRPr>
          </a:p>
        </p:txBody>
      </p:sp>
      <p:pic>
        <p:nvPicPr>
          <p:cNvPr id="4" name="عنصر نائب للمحتوى 3"/>
          <p:cNvPicPr>
            <a:picLocks noGrp="1"/>
          </p:cNvPicPr>
          <p:nvPr>
            <p:ph idx="4294967295"/>
          </p:nvPr>
        </p:nvPicPr>
        <p:blipFill>
          <a:blip r:embed="rId2"/>
          <a:srcRect t="9691" b="7319"/>
          <a:stretch>
            <a:fillRect/>
          </a:stretch>
        </p:blipFill>
        <p:spPr bwMode="auto">
          <a:xfrm>
            <a:off x="500034" y="1714488"/>
            <a:ext cx="8229600" cy="464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SY" sz="2800" b="1" dirty="0" smtClean="0"/>
              <a:t>نظام الاستدلال الغامض </a:t>
            </a:r>
            <a:r>
              <a:rPr lang="en-US" sz="2800" b="1" dirty="0" smtClean="0"/>
              <a:t>Fuzzy inference system</a:t>
            </a:r>
            <a:r>
              <a:rPr lang="ar-SY" sz="2800" b="1" dirty="0" smtClean="0"/>
              <a:t>:</a:t>
            </a:r>
            <a:endParaRPr lang="ar-SY" sz="2800" dirty="0"/>
          </a:p>
        </p:txBody>
      </p:sp>
      <p:pic>
        <p:nvPicPr>
          <p:cNvPr id="6" name="صورة 3" descr="22بدون عنوان"/>
          <p:cNvPicPr/>
          <p:nvPr/>
        </p:nvPicPr>
        <p:blipFill>
          <a:blip r:embed="rId2"/>
          <a:srcRect b="26750"/>
          <a:stretch>
            <a:fillRect/>
          </a:stretch>
        </p:blipFill>
        <p:spPr bwMode="auto">
          <a:xfrm>
            <a:off x="642910" y="2166936"/>
            <a:ext cx="7858180" cy="2976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SY" sz="2800" b="1" dirty="0" smtClean="0"/>
              <a:t>متحكم </a:t>
            </a:r>
            <a:r>
              <a:rPr lang="en-US" sz="2800" b="1" dirty="0" smtClean="0"/>
              <a:t>PD</a:t>
            </a:r>
            <a:r>
              <a:rPr lang="ar-SY" sz="2800" b="1" dirty="0" smtClean="0"/>
              <a:t>الغامض</a:t>
            </a:r>
            <a:endParaRPr lang="ar-SY" sz="28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285860"/>
            <a:ext cx="2990850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32" y="1428736"/>
            <a:ext cx="1200150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مستطيل 4"/>
          <p:cNvSpPr/>
          <p:nvPr/>
        </p:nvSpPr>
        <p:spPr>
          <a:xfrm>
            <a:off x="500034" y="4714884"/>
            <a:ext cx="88582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ar-SY" dirty="0" smtClean="0"/>
              <a:t>       </a:t>
            </a:r>
            <a:r>
              <a:rPr lang="en-US" b="1" dirty="0" smtClean="0"/>
              <a:t>If </a:t>
            </a:r>
            <a:r>
              <a:rPr lang="en-US" b="1" dirty="0" smtClean="0"/>
              <a:t>error is </a:t>
            </a:r>
            <a:r>
              <a:rPr lang="en-US" b="1" dirty="0" err="1" smtClean="0"/>
              <a:t>neglarge</a:t>
            </a:r>
            <a:r>
              <a:rPr lang="en-US" b="1" dirty="0" smtClean="0"/>
              <a:t> and change-in-error is </a:t>
            </a:r>
            <a:r>
              <a:rPr lang="en-US" b="1" dirty="0" err="1" smtClean="0"/>
              <a:t>neglarge</a:t>
            </a:r>
            <a:r>
              <a:rPr lang="en-US" b="1" dirty="0" smtClean="0"/>
              <a:t> Then force is </a:t>
            </a:r>
            <a:r>
              <a:rPr lang="en-US" b="1" dirty="0" err="1" smtClean="0"/>
              <a:t>poslarg</a:t>
            </a:r>
            <a:endParaRPr lang="en-US" i="1" dirty="0" smtClean="0"/>
          </a:p>
          <a:p>
            <a:pPr algn="just"/>
            <a:r>
              <a:rPr lang="ar-SY" dirty="0" smtClean="0"/>
              <a:t>          </a:t>
            </a:r>
            <a:r>
              <a:rPr lang="en-US" b="1" dirty="0" smtClean="0"/>
              <a:t>If error is zero and change-in-error is </a:t>
            </a:r>
            <a:r>
              <a:rPr lang="en-US" b="1" dirty="0" err="1" smtClean="0"/>
              <a:t>possmall</a:t>
            </a:r>
            <a:r>
              <a:rPr lang="en-US" b="1" dirty="0" smtClean="0"/>
              <a:t> Then force is </a:t>
            </a:r>
            <a:r>
              <a:rPr lang="en-US" b="1" dirty="0" err="1" smtClean="0"/>
              <a:t>negsmal</a:t>
            </a:r>
            <a:r>
              <a:rPr lang="en-US" b="1" dirty="0" smtClean="0"/>
              <a:t>    </a:t>
            </a:r>
            <a:endParaRPr lang="ar-SY" i="1" dirty="0" smtClean="0"/>
          </a:p>
          <a:p>
            <a:pPr algn="just"/>
            <a:r>
              <a:rPr lang="ar-SY" b="1" dirty="0" smtClean="0"/>
              <a:t>     </a:t>
            </a:r>
            <a:r>
              <a:rPr lang="en-US" b="1" dirty="0" smtClean="0"/>
              <a:t>If </a:t>
            </a:r>
            <a:r>
              <a:rPr lang="en-US" b="1" dirty="0" smtClean="0"/>
              <a:t>error is </a:t>
            </a:r>
            <a:r>
              <a:rPr lang="en-US" b="1" dirty="0" err="1" smtClean="0"/>
              <a:t>poslarge</a:t>
            </a:r>
            <a:r>
              <a:rPr lang="en-US" b="1" dirty="0" smtClean="0"/>
              <a:t> and change-in-error is </a:t>
            </a:r>
            <a:r>
              <a:rPr lang="en-US" b="1" dirty="0" err="1" smtClean="0"/>
              <a:t>negsmall</a:t>
            </a:r>
            <a:r>
              <a:rPr lang="en-US" b="1" dirty="0" smtClean="0"/>
              <a:t> Then force is </a:t>
            </a:r>
            <a:r>
              <a:rPr lang="en-US" b="1" dirty="0" err="1" smtClean="0"/>
              <a:t>negsmall</a:t>
            </a:r>
            <a:endParaRPr lang="ar-SY" dirty="0" smtClean="0"/>
          </a:p>
          <a:p>
            <a:pPr algn="just"/>
            <a:endParaRPr lang="ar-SY" dirty="0" smtClean="0"/>
          </a:p>
          <a:p>
            <a:pPr algn="just"/>
            <a:r>
              <a:rPr lang="ar-SY" dirty="0" smtClean="0"/>
              <a:t>       ونضع القواعد جميعها في الجدول التالي: </a:t>
            </a:r>
            <a:endParaRPr lang="ar-SA" dirty="0"/>
          </a:p>
        </p:txBody>
      </p:sp>
      <p:pic>
        <p:nvPicPr>
          <p:cNvPr id="3584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643174" y="3000372"/>
            <a:ext cx="438150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/>
          <a:srcRect l="10254" t="20898" b="11718"/>
          <a:stretch>
            <a:fillRect/>
          </a:stretch>
        </p:blipFill>
        <p:spPr bwMode="auto">
          <a:xfrm>
            <a:off x="-9072658" y="1071546"/>
            <a:ext cx="8753468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/>
          <a:srcRect l="8056" t="15625" r="6250" b="14062"/>
          <a:stretch>
            <a:fillRect/>
          </a:stretch>
        </p:blipFill>
        <p:spPr bwMode="auto">
          <a:xfrm>
            <a:off x="428596" y="1428736"/>
            <a:ext cx="835821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عنوان 8"/>
          <p:cNvSpPr>
            <a:spLocks noGrp="1"/>
          </p:cNvSpPr>
          <p:nvPr>
            <p:ph type="title"/>
          </p:nvPr>
        </p:nvSpPr>
        <p:spPr>
          <a:xfrm>
            <a:off x="914400" y="285728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ar-SY" sz="3200" dirty="0" smtClean="0"/>
              <a:t>محاكاة النظام بوجود المتحكم الغامض </a:t>
            </a:r>
            <a:endParaRPr lang="ar-SY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214290"/>
            <a:ext cx="8229600" cy="1399032"/>
          </a:xfrm>
        </p:spPr>
        <p:txBody>
          <a:bodyPr/>
          <a:lstStyle/>
          <a:p>
            <a:r>
              <a:rPr lang="ar-SY" sz="3200" dirty="0" smtClean="0"/>
              <a:t>منحنيات الاستجابة بوجود المتحكم الغامض</a:t>
            </a:r>
            <a:r>
              <a:rPr lang="ar-SY" dirty="0" smtClean="0"/>
              <a:t> </a:t>
            </a:r>
            <a:endParaRPr lang="ar-SY" dirty="0"/>
          </a:p>
        </p:txBody>
      </p:sp>
      <p:pic>
        <p:nvPicPr>
          <p:cNvPr id="3" name="صورة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000240"/>
            <a:ext cx="635798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صورة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500570"/>
            <a:ext cx="642942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لمحتوى 3"/>
          <p:cNvSpPr>
            <a:spLocks noGrp="1"/>
          </p:cNvSpPr>
          <p:nvPr>
            <p:ph idx="1"/>
          </p:nvPr>
        </p:nvSpPr>
        <p:spPr>
          <a:xfrm>
            <a:off x="914400" y="357166"/>
            <a:ext cx="7658128" cy="5072098"/>
          </a:xfrm>
        </p:spPr>
        <p:txBody>
          <a:bodyPr/>
          <a:lstStyle/>
          <a:p>
            <a:r>
              <a:rPr lang="ar-SY" dirty="0" smtClean="0"/>
              <a:t>ومن أجل مقارنة استجابة النظام لكل من المتحكمين السابقين </a:t>
            </a:r>
            <a:r>
              <a:rPr lang="ar-SY" dirty="0" err="1" smtClean="0"/>
              <a:t>الـ</a:t>
            </a:r>
            <a:r>
              <a:rPr lang="ar-SY" dirty="0" smtClean="0"/>
              <a:t> </a:t>
            </a:r>
            <a:r>
              <a:rPr lang="en-US" dirty="0" smtClean="0"/>
              <a:t>state feedback</a:t>
            </a:r>
            <a:r>
              <a:rPr lang="ar-SY" dirty="0" smtClean="0"/>
              <a:t> والـ  </a:t>
            </a:r>
            <a:r>
              <a:rPr lang="en-US" dirty="0" smtClean="0"/>
              <a:t>Fuzzy</a:t>
            </a:r>
            <a:r>
              <a:rPr lang="ar-SY" dirty="0" smtClean="0"/>
              <a:t>نرسم هذه الاستجابات على شكل واحد كما يلي: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ar-SY" dirty="0"/>
          </a:p>
        </p:txBody>
      </p:sp>
      <p:pic>
        <p:nvPicPr>
          <p:cNvPr id="5" name="صورة 4"/>
          <p:cNvPicPr/>
          <p:nvPr/>
        </p:nvPicPr>
        <p:blipFill>
          <a:blip r:embed="rId2">
            <a:lum contrast="40000"/>
          </a:blip>
          <a:srcRect l="-1727"/>
          <a:stretch>
            <a:fillRect/>
          </a:stretch>
        </p:blipFill>
        <p:spPr bwMode="auto">
          <a:xfrm>
            <a:off x="1071538" y="2786058"/>
            <a:ext cx="685804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500166" y="714356"/>
            <a:ext cx="5929354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عنصر نائب للمحتوى 6"/>
          <p:cNvSpPr>
            <a:spLocks noGrp="1"/>
          </p:cNvSpPr>
          <p:nvPr>
            <p:ph sz="half" idx="2"/>
          </p:nvPr>
        </p:nvSpPr>
        <p:spPr>
          <a:xfrm>
            <a:off x="571472" y="3929066"/>
            <a:ext cx="8115328" cy="2319334"/>
          </a:xfrm>
        </p:spPr>
        <p:txBody>
          <a:bodyPr>
            <a:normAutofit lnSpcReduction="10000"/>
          </a:bodyPr>
          <a:lstStyle/>
          <a:p>
            <a:r>
              <a:rPr lang="ar-SA" dirty="0" smtClean="0"/>
              <a:t>ومن المقارنة بين الاستجابتين نجد أن التصميم بطريقة </a:t>
            </a:r>
            <a:r>
              <a:rPr lang="ar-SA" dirty="0" err="1" smtClean="0"/>
              <a:t>ال</a:t>
            </a:r>
            <a:r>
              <a:rPr lang="en-US" dirty="0" smtClean="0"/>
              <a:t>State feedback </a:t>
            </a:r>
            <a:r>
              <a:rPr lang="ar-SA" dirty="0" smtClean="0"/>
              <a:t> أفضل من التصميم بالتحكم الغامض من ناحية سرعة الاستجابة </a:t>
            </a:r>
            <a:r>
              <a:rPr lang="ar-SA" dirty="0" err="1" smtClean="0"/>
              <a:t>للاهتزازت</a:t>
            </a:r>
            <a:r>
              <a:rPr lang="ar-SA" dirty="0" smtClean="0"/>
              <a:t>  وذلك بالنسبة للموضع والزاوية  .</a:t>
            </a:r>
            <a:endParaRPr lang="ar-SY" dirty="0" smtClean="0"/>
          </a:p>
          <a:p>
            <a:r>
              <a:rPr lang="ar-SY" dirty="0" smtClean="0"/>
              <a:t>وأما </a:t>
            </a:r>
            <a:r>
              <a:rPr lang="ar-SY" dirty="0" smtClean="0"/>
              <a:t>بالنسبة </a:t>
            </a:r>
            <a:r>
              <a:rPr lang="ar-SY" dirty="0" smtClean="0"/>
              <a:t>للتطبيق العملي فقد </a:t>
            </a:r>
            <a:r>
              <a:rPr lang="ar-SY" dirty="0" smtClean="0"/>
              <a:t>واجهتنا بعض الصعوبات ولم نحصل على نتائج عملية مرضية .</a:t>
            </a:r>
            <a:endParaRPr lang="en-US" dirty="0" smtClean="0"/>
          </a:p>
          <a:p>
            <a:endParaRPr lang="ar-S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6026204"/>
          </a:xfrm>
        </p:spPr>
        <p:txBody>
          <a:bodyPr/>
          <a:lstStyle/>
          <a:p>
            <a:r>
              <a:rPr lang="ar-SY" dirty="0" smtClean="0"/>
              <a:t>وأثناء التطبيق العملي على التجربة كانت لدينا الاستجابات التالية 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4" name="صورة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857364"/>
            <a:ext cx="6572296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صورة 4"/>
          <p:cNvPicPr/>
          <p:nvPr/>
        </p:nvPicPr>
        <p:blipFill>
          <a:blip r:embed="rId3"/>
          <a:srcRect t="2801"/>
          <a:stretch>
            <a:fillRect/>
          </a:stretch>
        </p:blipFill>
        <p:spPr bwMode="auto">
          <a:xfrm>
            <a:off x="1428728" y="4286256"/>
            <a:ext cx="6429420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097642"/>
          </a:xfrm>
        </p:spPr>
        <p:txBody>
          <a:bodyPr/>
          <a:lstStyle/>
          <a:p>
            <a:r>
              <a:rPr lang="ar-SY" dirty="0" smtClean="0"/>
              <a:t>وبالمقارنة بين التمثيل الرياضي والتجربة العملية نحصل على الاستجابات التالية 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4" name="صورة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3" y="1776413"/>
            <a:ext cx="6572296" cy="2224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صورة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286256"/>
            <a:ext cx="6572296" cy="220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SY" dirty="0" smtClean="0"/>
              <a:t>التطويرات المستقبلية</a:t>
            </a:r>
            <a:r>
              <a:rPr lang="en-US" dirty="0" smtClean="0"/>
              <a:t/>
            </a:r>
            <a:br>
              <a:rPr lang="en-US" dirty="0" smtClean="0"/>
            </a:b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72000"/>
          </a:xfrm>
        </p:spPr>
        <p:txBody>
          <a:bodyPr/>
          <a:lstStyle/>
          <a:p>
            <a:r>
              <a:rPr lang="ar-SY" dirty="0" smtClean="0"/>
              <a:t>يمكن توسيع هذا التطبيق بحيث يتم العمل على قلب وموازنة النواس وفق زاوية محددة  أي نقوم بداية بقلب النواس للأعلى وتحريك الذراع إلى الموضع المرغوب.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كائن 4">
            <a:hlinkClick r:id="rId3" action="ppaction://hlinkfile"/>
          </p:cNvPr>
          <p:cNvGraphicFramePr>
            <a:graphicFrameLocks noChangeAspect="1"/>
          </p:cNvGraphicFramePr>
          <p:nvPr/>
        </p:nvGraphicFramePr>
        <p:xfrm>
          <a:off x="3000364" y="2214554"/>
          <a:ext cx="3714776" cy="3070675"/>
        </p:xfrm>
        <a:graphic>
          <a:graphicData uri="http://schemas.openxmlformats.org/presentationml/2006/ole">
            <p:oleObj spid="_x0000_s27650" name="Package" r:id="rId4" imgW="380880" imgH="485640" progId="Package">
              <p:embed/>
            </p:oleObj>
          </a:graphicData>
        </a:graphic>
      </p:graphicFrame>
      <p:sp>
        <p:nvSpPr>
          <p:cNvPr id="6" name="مربع نص 5"/>
          <p:cNvSpPr txBox="1"/>
          <p:nvPr/>
        </p:nvSpPr>
        <p:spPr>
          <a:xfrm>
            <a:off x="2643174" y="857232"/>
            <a:ext cx="4429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التطبيق العملي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حيوية">
  <a:themeElements>
    <a:clrScheme name="حيوية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حيوية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حيوية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حيوية">
    <a:dk1>
      <a:sysClr val="windowText" lastClr="000000"/>
    </a:dk1>
    <a:lt1>
      <a:sysClr val="window" lastClr="FFFFFF"/>
    </a:lt1>
    <a:dk2>
      <a:srgbClr val="666666"/>
    </a:dk2>
    <a:lt2>
      <a:srgbClr val="D2D2D2"/>
    </a:lt2>
    <a:accent1>
      <a:srgbClr val="FF388C"/>
    </a:accent1>
    <a:accent2>
      <a:srgbClr val="E40059"/>
    </a:accent2>
    <a:accent3>
      <a:srgbClr val="9C007F"/>
    </a:accent3>
    <a:accent4>
      <a:srgbClr val="68007F"/>
    </a:accent4>
    <a:accent5>
      <a:srgbClr val="005BD3"/>
    </a:accent5>
    <a:accent6>
      <a:srgbClr val="00349E"/>
    </a:accent6>
    <a:hlink>
      <a:srgbClr val="17BBFD"/>
    </a:hlink>
    <a:folHlink>
      <a:srgbClr val="FF79C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416</Words>
  <Application>Microsoft Office PowerPoint</Application>
  <PresentationFormat>عرض على الشاشة (3:4)‏</PresentationFormat>
  <Paragraphs>57</Paragraphs>
  <Slides>22</Slides>
  <Notes>0</Notes>
  <HiddenSlides>0</HiddenSlides>
  <MMClips>0</MMClips>
  <ScaleCrop>false</ScaleCrop>
  <HeadingPairs>
    <vt:vector size="6" baseType="variant">
      <vt:variant>
        <vt:lpstr>سمة</vt:lpstr>
      </vt:variant>
      <vt:variant>
        <vt:i4>1</vt:i4>
      </vt:variant>
      <vt:variant>
        <vt:lpstr>خوادم OLE مضمنة</vt:lpstr>
      </vt:variant>
      <vt:variant>
        <vt:i4>2</vt:i4>
      </vt:variant>
      <vt:variant>
        <vt:lpstr>عناوين الشرائح</vt:lpstr>
      </vt:variant>
      <vt:variant>
        <vt:i4>22</vt:i4>
      </vt:variant>
    </vt:vector>
  </HeadingPairs>
  <TitlesOfParts>
    <vt:vector size="25" baseType="lpstr">
      <vt:lpstr>حيوية</vt:lpstr>
      <vt:lpstr>Equation</vt:lpstr>
      <vt:lpstr>Package</vt:lpstr>
      <vt:lpstr>تحليل وتصميم متحكم خطي لنظام النواس المقلوب </vt:lpstr>
      <vt:lpstr>الشريحة 2</vt:lpstr>
      <vt:lpstr>الشريحة 3</vt:lpstr>
      <vt:lpstr>الشريحة 4</vt:lpstr>
      <vt:lpstr>الشريحة 5</vt:lpstr>
      <vt:lpstr>         </vt:lpstr>
      <vt:lpstr>الشريحة 7</vt:lpstr>
      <vt:lpstr>الشريحة 8</vt:lpstr>
      <vt:lpstr>تصميم متحكم باستخدام التغذية العكسية بالحالة </vt:lpstr>
      <vt:lpstr>الشريحة 10</vt:lpstr>
      <vt:lpstr>منحنيات الاستجابة بوجود متحكم تغذية عكسية </vt:lpstr>
      <vt:lpstr>نظام الاستدلال الغامض Fuzzy inference system:</vt:lpstr>
      <vt:lpstr>متحكم PDالغامض</vt:lpstr>
      <vt:lpstr>الشريحة 14</vt:lpstr>
      <vt:lpstr>محاكاة النظام بوجود المتحكم الغامض </vt:lpstr>
      <vt:lpstr>منحنيات الاستجابة بوجود المتحكم الغامض </vt:lpstr>
      <vt:lpstr>الشريحة 17</vt:lpstr>
      <vt:lpstr>الشريحة 18</vt:lpstr>
      <vt:lpstr>الشريحة 19</vt:lpstr>
      <vt:lpstr>الشريحة 20</vt:lpstr>
      <vt:lpstr>التطويرات المستقبلية </vt:lpstr>
      <vt:lpstr>الشريحة 22</vt:lpstr>
    </vt:vector>
  </TitlesOfParts>
  <Company>sraj aldeen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a</dc:creator>
  <cp:lastModifiedBy>رضوان رضوان</cp:lastModifiedBy>
  <cp:revision>39</cp:revision>
  <dcterms:created xsi:type="dcterms:W3CDTF">2009-04-16T00:49:01Z</dcterms:created>
  <dcterms:modified xsi:type="dcterms:W3CDTF">2009-05-06T11:38:20Z</dcterms:modified>
</cp:coreProperties>
</file>